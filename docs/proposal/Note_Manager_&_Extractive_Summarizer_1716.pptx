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8D1710-9EF1-41AF-939B-AF3CD9FD330C}" v="63" dt="2026-09-24T01:20:05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rar Hossain Shahariar" userId="7ca4992ca37a4146" providerId="LiveId" clId="{8EC74229-DD0E-4EF0-8144-5B4713052C01}"/>
    <pc:docChg chg="custSel modSld">
      <pc:chgData name="Abrar Hossain Shahariar" userId="7ca4992ca37a4146" providerId="LiveId" clId="{8EC74229-DD0E-4EF0-8144-5B4713052C01}" dt="2026-09-24T01:20:37.232" v="85"/>
      <pc:docMkLst>
        <pc:docMk/>
      </pc:docMkLst>
      <pc:sldChg chg="modSp addAnim delAnim modAnim">
        <pc:chgData name="Abrar Hossain Shahariar" userId="7ca4992ca37a4146" providerId="LiveId" clId="{8EC74229-DD0E-4EF0-8144-5B4713052C01}" dt="2026-09-24T01:20:37.232" v="85"/>
        <pc:sldMkLst>
          <pc:docMk/>
          <pc:sldMk cId="1221654127" sldId="256"/>
        </pc:sldMkLst>
        <pc:spChg chg="mod">
          <ac:chgData name="Abrar Hossain Shahariar" userId="7ca4992ca37a4146" providerId="LiveId" clId="{8EC74229-DD0E-4EF0-8144-5B4713052C01}" dt="2026-09-24T01:13:30.895" v="48" actId="20577"/>
          <ac:spMkLst>
            <pc:docMk/>
            <pc:sldMk cId="1221654127" sldId="256"/>
            <ac:spMk id="9" creationId="{A2707EC1-1888-4873-A10F-375A84ACE35E}"/>
          </ac:spMkLst>
        </pc:spChg>
        <pc:spChg chg="mod">
          <ac:chgData name="Abrar Hossain Shahariar" userId="7ca4992ca37a4146" providerId="LiveId" clId="{8EC74229-DD0E-4EF0-8144-5B4713052C01}" dt="2026-09-24T01:14:26.035" v="50"/>
          <ac:spMkLst>
            <pc:docMk/>
            <pc:sldMk cId="1221654127" sldId="256"/>
            <ac:spMk id="12" creationId="{9068E324-D76C-4D4B-B5F5-D1AC561AA1C4}"/>
          </ac:spMkLst>
        </pc:spChg>
        <pc:spChg chg="mod">
          <ac:chgData name="Abrar Hossain Shahariar" userId="7ca4992ca37a4146" providerId="LiveId" clId="{8EC74229-DD0E-4EF0-8144-5B4713052C01}" dt="2026-09-24T01:14:40.727" v="51"/>
          <ac:spMkLst>
            <pc:docMk/>
            <pc:sldMk cId="1221654127" sldId="256"/>
            <ac:spMk id="15" creationId="{A9975572-D7A2-4466-98F2-C431CFCEC3E2}"/>
          </ac:spMkLst>
        </pc:spChg>
        <pc:spChg chg="mod">
          <ac:chgData name="Abrar Hossain Shahariar" userId="7ca4992ca37a4146" providerId="LiveId" clId="{8EC74229-DD0E-4EF0-8144-5B4713052C01}" dt="2026-09-24T01:14:50.327" v="52"/>
          <ac:spMkLst>
            <pc:docMk/>
            <pc:sldMk cId="1221654127" sldId="256"/>
            <ac:spMk id="18" creationId="{21CC5B40-7495-4A37-B96C-18312044E4A4}"/>
          </ac:spMkLst>
        </pc:spChg>
        <pc:spChg chg="mod">
          <ac:chgData name="Abrar Hossain Shahariar" userId="7ca4992ca37a4146" providerId="LiveId" clId="{8EC74229-DD0E-4EF0-8144-5B4713052C01}" dt="2026-09-24T01:15:01.077" v="53"/>
          <ac:spMkLst>
            <pc:docMk/>
            <pc:sldMk cId="1221654127" sldId="256"/>
            <ac:spMk id="21" creationId="{BF03DD31-893E-4807-89FE-48D3EF1520ED}"/>
          </ac:spMkLst>
        </pc:spChg>
        <pc:spChg chg="mod">
          <ac:chgData name="Abrar Hossain Shahariar" userId="7ca4992ca37a4146" providerId="LiveId" clId="{8EC74229-DD0E-4EF0-8144-5B4713052C01}" dt="2026-09-24T01:15:18.991" v="56"/>
          <ac:spMkLst>
            <pc:docMk/>
            <pc:sldMk cId="1221654127" sldId="256"/>
            <ac:spMk id="24" creationId="{221758FF-7708-4DB6-B87A-46B2191D18D7}"/>
          </ac:spMkLst>
        </pc:spChg>
        <pc:spChg chg="mod">
          <ac:chgData name="Abrar Hossain Shahariar" userId="7ca4992ca37a4146" providerId="LiveId" clId="{8EC74229-DD0E-4EF0-8144-5B4713052C01}" dt="2026-09-24T01:15:29.948" v="57"/>
          <ac:spMkLst>
            <pc:docMk/>
            <pc:sldMk cId="1221654127" sldId="256"/>
            <ac:spMk id="27" creationId="{45FFDC24-FC50-4A48-9F26-45F12F634F04}"/>
          </ac:spMkLst>
        </pc:spChg>
        <pc:spChg chg="mod">
          <ac:chgData name="Abrar Hossain Shahariar" userId="7ca4992ca37a4146" providerId="LiveId" clId="{8EC74229-DD0E-4EF0-8144-5B4713052C01}" dt="2026-09-24T01:15:43.725" v="58"/>
          <ac:spMkLst>
            <pc:docMk/>
            <pc:sldMk cId="1221654127" sldId="256"/>
            <ac:spMk id="30" creationId="{F559A921-23E0-414A-B781-9A0E97119243}"/>
          </ac:spMkLst>
        </pc:spChg>
      </pc:sldChg>
      <pc:sldChg chg="addAnim delAnim">
        <pc:chgData name="Abrar Hossain Shahariar" userId="7ca4992ca37a4146" providerId="LiveId" clId="{8EC74229-DD0E-4EF0-8144-5B4713052C01}" dt="2026-09-24T01:17:08.279" v="59"/>
        <pc:sldMkLst>
          <pc:docMk/>
          <pc:sldMk cId="784679782" sldId="257"/>
        </pc:sldMkLst>
      </pc:sldChg>
      <pc:sldChg chg="addAnim delAnim">
        <pc:chgData name="Abrar Hossain Shahariar" userId="7ca4992ca37a4146" providerId="LiveId" clId="{8EC74229-DD0E-4EF0-8144-5B4713052C01}" dt="2026-09-24T01:18:29.315" v="64"/>
        <pc:sldMkLst>
          <pc:docMk/>
          <pc:sldMk cId="1708087558" sldId="258"/>
        </pc:sldMkLst>
      </pc:sldChg>
      <pc:sldChg chg="addAnim delAnim">
        <pc:chgData name="Abrar Hossain Shahariar" userId="7ca4992ca37a4146" providerId="LiveId" clId="{8EC74229-DD0E-4EF0-8144-5B4713052C01}" dt="2026-09-24T01:18:41.622" v="67"/>
        <pc:sldMkLst>
          <pc:docMk/>
          <pc:sldMk cId="283106743" sldId="259"/>
        </pc:sldMkLst>
      </pc:sldChg>
      <pc:sldChg chg="addAnim delAnim">
        <pc:chgData name="Abrar Hossain Shahariar" userId="7ca4992ca37a4146" providerId="LiveId" clId="{8EC74229-DD0E-4EF0-8144-5B4713052C01}" dt="2026-09-24T01:18:58.927" v="71"/>
        <pc:sldMkLst>
          <pc:docMk/>
          <pc:sldMk cId="332429261" sldId="260"/>
        </pc:sldMkLst>
      </pc:sldChg>
      <pc:sldChg chg="addAnim delAnim">
        <pc:chgData name="Abrar Hossain Shahariar" userId="7ca4992ca37a4146" providerId="LiveId" clId="{8EC74229-DD0E-4EF0-8144-5B4713052C01}" dt="2026-09-24T01:19:12.263" v="74"/>
        <pc:sldMkLst>
          <pc:docMk/>
          <pc:sldMk cId="2142228728" sldId="261"/>
        </pc:sldMkLst>
      </pc:sldChg>
      <pc:sldChg chg="addAnim delAnim">
        <pc:chgData name="Abrar Hossain Shahariar" userId="7ca4992ca37a4146" providerId="LiveId" clId="{8EC74229-DD0E-4EF0-8144-5B4713052C01}" dt="2026-09-24T01:19:24.914" v="76"/>
        <pc:sldMkLst>
          <pc:docMk/>
          <pc:sldMk cId="218619074" sldId="262"/>
        </pc:sldMkLst>
      </pc:sldChg>
      <pc:sldChg chg="addAnim delAnim modAnim">
        <pc:chgData name="Abrar Hossain Shahariar" userId="7ca4992ca37a4146" providerId="LiveId" clId="{8EC74229-DD0E-4EF0-8144-5B4713052C01}" dt="2026-09-24T01:20:05.109" v="84"/>
        <pc:sldMkLst>
          <pc:docMk/>
          <pc:sldMk cId="2126234391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596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 Manager &amp; Extractive Summarizer</a:t>
            </a:r>
          </a:p>
          <a:p>
            <a:r>
              <a:t>Organize your notes. Find information faster. Extract the key points effortlessly.</a:t>
            </a:r>
          </a:p>
          <a:p>
            <a:r>
              <a:t>Software Project Lab 1</a:t>
            </a:r>
          </a:p>
          <a:p>
            <a:r>
              <a:t>Submitted by:</a:t>
            </a:r>
          </a:p>
          <a:p>
            <a:r>
              <a:t>Abrar Hossain Shahariar</a:t>
            </a:r>
          </a:p>
          <a:p>
            <a:r>
              <a:t>Roll: 1716</a:t>
            </a:r>
          </a:p>
          <a:p>
            <a:r>
              <a:t>Supervisor:</a:t>
            </a:r>
          </a:p>
          <a:p>
            <a:r>
              <a:t>Dr. Sumon Ahmed</a:t>
            </a:r>
          </a:p>
          <a:p>
            <a:r>
              <a:t>IIT, University of Dhaka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078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Overview</a:t>
            </a:r>
          </a:p>
          <a:p>
            <a:r>
              <a:t>Problem Statement</a:t>
            </a:r>
          </a:p>
          <a:p>
            <a:r>
              <a:t>Notes are scattered across many .txt / .md files</a:t>
            </a:r>
          </a:p>
          <a:p>
            <a:r>
              <a:t>Searching is usually very slow</a:t>
            </a:r>
          </a:p>
          <a:p>
            <a:r>
              <a:t>Long notes are slow to review</a:t>
            </a:r>
          </a:p>
          <a:p>
            <a:r>
              <a:t>Existing apps are heavy, GUI-based, and cloud-dependent</a:t>
            </a:r>
          </a:p>
          <a:p>
            <a:r>
              <a:t>Motivation</a:t>
            </a:r>
          </a:p>
          <a:p>
            <a:r>
              <a:t>Fast search across all notes</a:t>
            </a:r>
          </a:p>
          <a:p>
            <a:r>
              <a:t>Automatic summaries, no external AI service</a:t>
            </a:r>
          </a:p>
          <a:p>
            <a:r>
              <a:t>Fully offline, so notes stay private</a:t>
            </a:r>
          </a:p>
          <a:p>
            <a:r>
              <a:t>Lightweight terminal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0445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Directory Ingestion</a:t>
            </a:r>
          </a:p>
          <a:p>
            <a:r>
              <a:t>Automated disk scanning for .txt and .md files</a:t>
            </a:r>
          </a:p>
          <a:p>
            <a:endParaRPr/>
          </a:p>
          <a:p>
            <a:r>
              <a:t>2. CRUD Operations</a:t>
            </a:r>
          </a:p>
          <a:p>
            <a:r>
              <a:t>Create-Read-Update-Delete (Temporary &amp; Permanent)</a:t>
            </a:r>
          </a:p>
          <a:p>
            <a:endParaRPr/>
          </a:p>
          <a:p>
            <a:r>
              <a:t>3. Binary Metadata Persistence</a:t>
            </a:r>
          </a:p>
          <a:p>
            <a:r>
              <a:t>Tags, Metadata &amp; Index in Binary 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6656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Custom Inverted Index</a:t>
            </a:r>
          </a:p>
          <a:p>
            <a:r>
              <a:t>Maps unique keywords to source files &amp; exact line positions.</a:t>
            </a:r>
          </a:p>
          <a:p>
            <a:endParaRPr/>
          </a:p>
          <a:p>
            <a:r>
              <a:t>2. Multi-File Search &amp; Exact Phrase Search</a:t>
            </a:r>
          </a:p>
          <a:p>
            <a:r>
              <a:t>Based on custom tags and categories</a:t>
            </a:r>
          </a:p>
          <a:p>
            <a:endParaRPr/>
          </a:p>
          <a:p>
            <a:r>
              <a:t>3. ANSI Terminal Highlighting</a:t>
            </a:r>
          </a:p>
          <a:p>
            <a:r>
              <a:t>Uses ANSI escape codes to highlight search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750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TF-IDF Vector Space</a:t>
            </a:r>
          </a:p>
          <a:p>
            <a:r>
              <a:t>Normalize, Tokenize, Remove Stop Words, Vectorize</a:t>
            </a:r>
          </a:p>
          <a:p>
            <a:endParaRPr/>
          </a:p>
          <a:p>
            <a:r>
              <a:t>2. Cosine Similarity</a:t>
            </a:r>
          </a:p>
          <a:p>
            <a:r>
              <a:t>Measure similarity between sentence vectors.</a:t>
            </a:r>
          </a:p>
          <a:p>
            <a:endParaRPr/>
          </a:p>
          <a:p>
            <a:r>
              <a:t>3. Graph-Based LexRank Summarization</a:t>
            </a:r>
          </a:p>
          <a:p>
            <a:r>
              <a:t>Graph centrality, rank &amp; select key sentences</a:t>
            </a:r>
          </a:p>
          <a:p>
            <a:endParaRPr/>
          </a:p>
          <a:p>
            <a:r>
              <a:t>4. Flexible Summary Options &amp; Export</a:t>
            </a:r>
          </a:p>
          <a:p>
            <a:r>
              <a:t>User-defined summary length, unified summaries from tagged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6408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Document Metrics</a:t>
            </a:r>
          </a:p>
          <a:p>
            <a:r>
              <a:t>Word Count, Sentence Count, Average Sentence Length, Estimated Reading Time.</a:t>
            </a:r>
          </a:p>
          <a:p>
            <a:endParaRPr/>
          </a:p>
          <a:p>
            <a:r>
              <a:t>2. Top Keyword Extraction</a:t>
            </a:r>
          </a:p>
          <a:p>
            <a:r>
              <a:t>Extract &amp; display statistically significant words.</a:t>
            </a:r>
          </a:p>
          <a:p>
            <a:endParaRPr/>
          </a:p>
          <a:p>
            <a:r>
              <a:t>3. Vector Similarity &amp; Document Comparison</a:t>
            </a:r>
          </a:p>
          <a:p>
            <a:r>
              <a:t>Identify highly similar or duplicate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705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Interactive REPL Command Loop</a:t>
            </a:r>
          </a:p>
          <a:p>
            <a:r>
              <a:t>Read-Evaluate-Print Loop interface.</a:t>
            </a:r>
          </a:p>
          <a:p>
            <a:endParaRPr/>
          </a:p>
          <a:p>
            <a:r>
              <a:t>2. Exception &amp; Error Handling</a:t>
            </a:r>
          </a:p>
          <a:p>
            <a:r>
              <a:t>Ensures safe I/O operations, prevents system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562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Overall System Architecture</a:t>
            </a:r>
          </a:p>
          <a:p>
            <a:r>
              <a:t>Target users</a:t>
            </a:r>
          </a:p>
          <a:p>
            <a:r>
              <a:t>Students, researchers, Privacy-conscious note takers</a:t>
            </a:r>
          </a:p>
          <a:p>
            <a:r>
              <a:t>Tools to be used</a:t>
            </a:r>
          </a:p>
          <a:p>
            <a:r>
              <a:t>Language C++, Terminal, VS Codes, Git/Github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1006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020CFE-347D-4169-A03C-5963F62EB8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4767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6C7BB-E014-4A1C-9393-E50D2235C42E}"/>
              </a:ext>
            </a:extLst>
          </p:cNvPr>
          <p:cNvSpPr>
            <a:spLocks noGrp="1"/>
          </p:cNvSpPr>
          <p:nvPr/>
        </p:nvSpPr>
        <p:spPr>
          <a:xfrm>
            <a:off x="762000" y="752475"/>
            <a:ext cx="76200" cy="2857500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ver-course">
            <a:extLst>
              <a:ext uri="{FF2B5EF4-FFF2-40B4-BE49-F238E27FC236}">
                <a16:creationId xmlns:a16="http://schemas.microsoft.com/office/drawing/2014/main" id="{6AC70E59-6FE9-47EE-AE2B-83B3F2F9CD7A}"/>
              </a:ext>
            </a:extLst>
          </p:cNvPr>
          <p:cNvSpPr>
            <a:spLocks noGrp="1"/>
          </p:cNvSpPr>
          <p:nvPr/>
        </p:nvSpPr>
        <p:spPr>
          <a:xfrm>
            <a:off x="1133475" y="6858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FFDB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DBB5"/>
                </a:solidFill>
                <a:latin typeface="Arial"/>
                <a:ea typeface="Arial"/>
                <a:cs typeface="Arial"/>
              </a:rPr>
              <a:t>Software Project Lab 1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198A7ED-BF67-4E66-8E86-6A1CAD3988A3}"/>
              </a:ext>
            </a:extLst>
          </p:cNvPr>
          <p:cNvSpPr>
            <a:spLocks noGrp="1"/>
          </p:cNvSpPr>
          <p:nvPr/>
        </p:nvSpPr>
        <p:spPr>
          <a:xfrm>
            <a:off x="1133475" y="1400175"/>
            <a:ext cx="9715500" cy="1714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Note Manager &amp;</a:t>
            </a:r>
          </a:p>
          <a:p>
            <a:pPr algn="l">
              <a:defRPr sz="43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Extractive Summarizer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A40D4ADD-9F7A-4D06-A34A-C464878F8825}"/>
              </a:ext>
            </a:extLst>
          </p:cNvPr>
          <p:cNvSpPr>
            <a:spLocks noGrp="1"/>
          </p:cNvSpPr>
          <p:nvPr/>
        </p:nvSpPr>
        <p:spPr>
          <a:xfrm>
            <a:off x="1133475" y="3371850"/>
            <a:ext cx="981075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E4EB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4EBEC"/>
                </a:solidFill>
                <a:latin typeface="Arial"/>
                <a:ea typeface="Arial"/>
                <a:cs typeface="Arial"/>
              </a:rPr>
              <a:t>Organize your notes. Find information faster. Extract the key points effortlessly.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C377A7-9791-427A-B147-5BD3A3B4F74A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10668000" cy="28575"/>
          </a:xfrm>
          <a:prstGeom prst="rect">
            <a:avLst/>
          </a:prstGeom>
          <a:solidFill>
            <a:srgbClr val="CC8A5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D2D90F-793E-4009-9E1D-DD11106D894F}"/>
              </a:ext>
            </a:extLst>
          </p:cNvPr>
          <p:cNvSpPr>
            <a:spLocks noGrp="1"/>
          </p:cNvSpPr>
          <p:nvPr/>
        </p:nvSpPr>
        <p:spPr>
          <a:xfrm>
            <a:off x="762000" y="5229225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A45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583A"/>
                </a:solidFill>
                <a:latin typeface="Arial"/>
                <a:ea typeface="Arial"/>
                <a:cs typeface="Arial"/>
              </a:rPr>
              <a:t>Submitted by: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ED9D1-A3C5-4312-92EF-37BAD7BC482A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50006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Abrar Hossain Shahariar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BBECA-BBDC-4676-AEEF-DC6B63167BF0}"/>
              </a:ext>
            </a:extLst>
          </p:cNvPr>
          <p:cNvSpPr>
            <a:spLocks noGrp="1"/>
          </p:cNvSpPr>
          <p:nvPr/>
        </p:nvSpPr>
        <p:spPr>
          <a:xfrm>
            <a:off x="762000" y="6010275"/>
            <a:ext cx="3810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Roll: 1716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01FA9B-92E8-4D53-BD0B-6FAFE5214246}"/>
              </a:ext>
            </a:extLst>
          </p:cNvPr>
          <p:cNvSpPr>
            <a:spLocks noGrp="1"/>
          </p:cNvSpPr>
          <p:nvPr/>
        </p:nvSpPr>
        <p:spPr>
          <a:xfrm>
            <a:off x="6562725" y="5229225"/>
            <a:ext cx="4476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1">
                <a:solidFill>
                  <a:srgbClr val="A45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4583A"/>
                </a:solidFill>
                <a:latin typeface="Arial"/>
                <a:ea typeface="Arial"/>
                <a:cs typeface="Arial"/>
              </a:rPr>
              <a:t>Supervisor: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0DE06-DBFA-46DA-8800-B5F2D1DA055A}"/>
              </a:ext>
            </a:extLst>
          </p:cNvPr>
          <p:cNvSpPr>
            <a:spLocks noGrp="1"/>
          </p:cNvSpPr>
          <p:nvPr/>
        </p:nvSpPr>
        <p:spPr>
          <a:xfrm>
            <a:off x="6562725" y="55435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Dr. Sumon Ahmed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E0DC23-B102-4A3F-8225-FDCF164A5F5F}"/>
              </a:ext>
            </a:extLst>
          </p:cNvPr>
          <p:cNvSpPr>
            <a:spLocks noGrp="1"/>
          </p:cNvSpPr>
          <p:nvPr/>
        </p:nvSpPr>
        <p:spPr>
          <a:xfrm>
            <a:off x="6562725" y="6010275"/>
            <a:ext cx="45720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IIT, University of Dhaka</a:t>
            </a:r>
          </a:p>
        </p:txBody>
      </p:sp>
    </p:spTree>
    <p:extLst>
      <p:ext uri="{BB962C8B-B14F-4D97-AF65-F5344CB8AC3E}">
        <p14:creationId xmlns:p14="http://schemas.microsoft.com/office/powerpoint/2010/main" val="7846797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0724952-82C3-492E-BA75-F03BFE26A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382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overview-title">
            <a:extLst>
              <a:ext uri="{FF2B5EF4-FFF2-40B4-BE49-F238E27FC236}">
                <a16:creationId xmlns:a16="http://schemas.microsoft.com/office/drawing/2014/main" id="{A4C58D8B-7BA1-42EC-9819-6791741C152E}"/>
              </a:ext>
            </a:extLst>
          </p:cNvPr>
          <p:cNvSpPr>
            <a:spLocks noGrp="1"/>
          </p:cNvSpPr>
          <p:nvPr/>
        </p:nvSpPr>
        <p:spPr>
          <a:xfrm>
            <a:off x="723900" y="371475"/>
            <a:ext cx="80962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9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lang="en-US" sz="390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Project Genesis</a:t>
            </a:r>
            <a:endParaRPr sz="3900" b="0" dirty="0">
              <a:solidFill>
                <a:srgbClr val="FFFFF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27EFE-3902-430F-BE3A-BEAB175E1CD9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5238750" cy="600075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erview-problem-heading">
            <a:extLst>
              <a:ext uri="{FF2B5EF4-FFF2-40B4-BE49-F238E27FC236}">
                <a16:creationId xmlns:a16="http://schemas.microsoft.com/office/drawing/2014/main" id="{C57EED60-BBE4-49E6-B40D-D363A0E11D7F}"/>
              </a:ext>
            </a:extLst>
          </p:cNvPr>
          <p:cNvSpPr>
            <a:spLocks noGrp="1"/>
          </p:cNvSpPr>
          <p:nvPr/>
        </p:nvSpPr>
        <p:spPr>
          <a:xfrm>
            <a:off x="933450" y="1724025"/>
            <a:ext cx="481012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4842C-FBF3-433D-AAE2-0C22BED33506}"/>
              </a:ext>
            </a:extLst>
          </p:cNvPr>
          <p:cNvSpPr>
            <a:spLocks noGrp="1"/>
          </p:cNvSpPr>
          <p:nvPr/>
        </p:nvSpPr>
        <p:spPr>
          <a:xfrm>
            <a:off x="6229350" y="1714500"/>
            <a:ext cx="5238750" cy="6000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overview-motivation-heading">
            <a:extLst>
              <a:ext uri="{FF2B5EF4-FFF2-40B4-BE49-F238E27FC236}">
                <a16:creationId xmlns:a16="http://schemas.microsoft.com/office/drawing/2014/main" id="{36B87293-26F1-427B-89A6-4BCA46D4E0FA}"/>
              </a:ext>
            </a:extLst>
          </p:cNvPr>
          <p:cNvSpPr>
            <a:spLocks noGrp="1"/>
          </p:cNvSpPr>
          <p:nvPr/>
        </p:nvSpPr>
        <p:spPr>
          <a:xfrm>
            <a:off x="6438900" y="1724025"/>
            <a:ext cx="4810125" cy="581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299A0-A611-46AD-9895-80A4F48D5717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C5DF8-EA90-4319-B294-18581D130E8C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66675" cy="9334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overview-problem-1">
            <a:extLst>
              <a:ext uri="{FF2B5EF4-FFF2-40B4-BE49-F238E27FC236}">
                <a16:creationId xmlns:a16="http://schemas.microsoft.com/office/drawing/2014/main" id="{A2707EC1-1888-4873-A10F-375A84ACE35E}"/>
              </a:ext>
            </a:extLst>
          </p:cNvPr>
          <p:cNvSpPr>
            <a:spLocks noGrp="1"/>
          </p:cNvSpPr>
          <p:nvPr/>
        </p:nvSpPr>
        <p:spPr>
          <a:xfrm>
            <a:off x="990600" y="2486025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Notes are scattered across .txt or .md files</a:t>
            </a:r>
          </a:p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and searching is quite slow.</a:t>
            </a:r>
            <a:endParaRPr sz="1575" b="0" dirty="0">
              <a:solidFill>
                <a:srgbClr val="1C28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E47E5-6519-407C-89DB-5CA04311DE3E}"/>
              </a:ext>
            </a:extLst>
          </p:cNvPr>
          <p:cNvSpPr>
            <a:spLocks noGrp="1"/>
          </p:cNvSpPr>
          <p:nvPr/>
        </p:nvSpPr>
        <p:spPr>
          <a:xfrm>
            <a:off x="6229350" y="2428875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EF938E-E3F1-44B2-A721-B2A686C63A9B}"/>
              </a:ext>
            </a:extLst>
          </p:cNvPr>
          <p:cNvSpPr>
            <a:spLocks noGrp="1"/>
          </p:cNvSpPr>
          <p:nvPr/>
        </p:nvSpPr>
        <p:spPr>
          <a:xfrm>
            <a:off x="6229350" y="2428875"/>
            <a:ext cx="66675" cy="9334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verview-motivation-1">
            <a:extLst>
              <a:ext uri="{FF2B5EF4-FFF2-40B4-BE49-F238E27FC236}">
                <a16:creationId xmlns:a16="http://schemas.microsoft.com/office/drawing/2014/main" id="{9068E324-D76C-4D4B-B5F5-D1AC561AA1C4}"/>
              </a:ext>
            </a:extLst>
          </p:cNvPr>
          <p:cNvSpPr>
            <a:spLocks noGrp="1"/>
          </p:cNvSpPr>
          <p:nvPr/>
        </p:nvSpPr>
        <p:spPr>
          <a:xfrm>
            <a:off x="6496050" y="2486025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Fast, unified search across all notes.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C686D-9898-4E4B-ACB8-A6BAD6E1CCAA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0EF6B6-52D2-4611-949A-8BCB91559A25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66675" cy="9334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verview-problem-2">
            <a:extLst>
              <a:ext uri="{FF2B5EF4-FFF2-40B4-BE49-F238E27FC236}">
                <a16:creationId xmlns:a16="http://schemas.microsoft.com/office/drawing/2014/main" id="{A9975572-D7A2-4466-98F2-C431CFCEC3E2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Long notes are tedious &amp; slow to review.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1F0C1-D15F-4E96-BED0-6FC3580518E8}"/>
              </a:ext>
            </a:extLst>
          </p:cNvPr>
          <p:cNvSpPr>
            <a:spLocks noGrp="1"/>
          </p:cNvSpPr>
          <p:nvPr/>
        </p:nvSpPr>
        <p:spPr>
          <a:xfrm>
            <a:off x="6229350" y="3429000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C87D2-CF28-45ED-B0BA-5F901A4384B4}"/>
              </a:ext>
            </a:extLst>
          </p:cNvPr>
          <p:cNvSpPr>
            <a:spLocks noGrp="1"/>
          </p:cNvSpPr>
          <p:nvPr/>
        </p:nvSpPr>
        <p:spPr>
          <a:xfrm>
            <a:off x="6229350" y="3429000"/>
            <a:ext cx="66675" cy="9334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overview-motivation-2">
            <a:extLst>
              <a:ext uri="{FF2B5EF4-FFF2-40B4-BE49-F238E27FC236}">
                <a16:creationId xmlns:a16="http://schemas.microsoft.com/office/drawing/2014/main" id="{21CC5B40-7495-4A37-B96C-18312044E4A4}"/>
              </a:ext>
            </a:extLst>
          </p:cNvPr>
          <p:cNvSpPr>
            <a:spLocks noGrp="1"/>
          </p:cNvSpPr>
          <p:nvPr/>
        </p:nvSpPr>
        <p:spPr>
          <a:xfrm>
            <a:off x="6496050" y="3486150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Automatic summaries without external AI service.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0E477E-D029-49A1-800F-5A8E55DAC1F4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3C7D6-3BEA-4EF8-BB42-80C0C1EA9460}"/>
              </a:ext>
            </a:extLst>
          </p:cNvPr>
          <p:cNvSpPr>
            <a:spLocks noGrp="1"/>
          </p:cNvSpPr>
          <p:nvPr/>
        </p:nvSpPr>
        <p:spPr>
          <a:xfrm>
            <a:off x="723900" y="4429125"/>
            <a:ext cx="66675" cy="9334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overview-problem-3">
            <a:extLst>
              <a:ext uri="{FF2B5EF4-FFF2-40B4-BE49-F238E27FC236}">
                <a16:creationId xmlns:a16="http://schemas.microsoft.com/office/drawing/2014/main" id="{BF03DD31-893E-4807-89FE-48D3EF1520ED}"/>
              </a:ext>
            </a:extLst>
          </p:cNvPr>
          <p:cNvSpPr>
            <a:spLocks noGrp="1"/>
          </p:cNvSpPr>
          <p:nvPr/>
        </p:nvSpPr>
        <p:spPr>
          <a:xfrm>
            <a:off x="990600" y="4486275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Existing apps are heavily cloud-dependent.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3FDA72-2297-4CC5-810E-48F1C57072BC}"/>
              </a:ext>
            </a:extLst>
          </p:cNvPr>
          <p:cNvSpPr>
            <a:spLocks noGrp="1"/>
          </p:cNvSpPr>
          <p:nvPr/>
        </p:nvSpPr>
        <p:spPr>
          <a:xfrm>
            <a:off x="6229350" y="4429125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68BDC6-0594-4006-8291-A55A8B422BA5}"/>
              </a:ext>
            </a:extLst>
          </p:cNvPr>
          <p:cNvSpPr>
            <a:spLocks noGrp="1"/>
          </p:cNvSpPr>
          <p:nvPr/>
        </p:nvSpPr>
        <p:spPr>
          <a:xfrm>
            <a:off x="6229350" y="4429125"/>
            <a:ext cx="66675" cy="9334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overview-motivation-3">
            <a:extLst>
              <a:ext uri="{FF2B5EF4-FFF2-40B4-BE49-F238E27FC236}">
                <a16:creationId xmlns:a16="http://schemas.microsoft.com/office/drawing/2014/main" id="{221758FF-7708-4DB6-B87A-46B2191D18D7}"/>
              </a:ext>
            </a:extLst>
          </p:cNvPr>
          <p:cNvSpPr>
            <a:spLocks noGrp="1"/>
          </p:cNvSpPr>
          <p:nvPr/>
        </p:nvSpPr>
        <p:spPr>
          <a:xfrm>
            <a:off x="6496050" y="4486275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Fully offline, so notes stay private.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DE6435-77C3-418F-B529-06C6B8AE24D5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FD01DD-9257-4CC9-9373-2BE911A7669C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66675" cy="9334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overview-problem-4">
            <a:extLst>
              <a:ext uri="{FF2B5EF4-FFF2-40B4-BE49-F238E27FC236}">
                <a16:creationId xmlns:a16="http://schemas.microsoft.com/office/drawing/2014/main" id="{45FFDC24-FC50-4A48-9F26-45F12F634F04}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Existing apps are heavy, GUI-based.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ABBB19-143B-435E-8B37-9D7DF3169423}"/>
              </a:ext>
            </a:extLst>
          </p:cNvPr>
          <p:cNvSpPr>
            <a:spLocks noGrp="1"/>
          </p:cNvSpPr>
          <p:nvPr/>
        </p:nvSpPr>
        <p:spPr>
          <a:xfrm>
            <a:off x="6229350" y="5429250"/>
            <a:ext cx="5238750" cy="9334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1E3C1B-2987-4AD5-A332-C92B810ABF12}"/>
              </a:ext>
            </a:extLst>
          </p:cNvPr>
          <p:cNvSpPr>
            <a:spLocks noGrp="1"/>
          </p:cNvSpPr>
          <p:nvPr/>
        </p:nvSpPr>
        <p:spPr>
          <a:xfrm>
            <a:off x="6229350" y="5429250"/>
            <a:ext cx="66675" cy="9334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overview-motivation-4">
            <a:extLst>
              <a:ext uri="{FF2B5EF4-FFF2-40B4-BE49-F238E27FC236}">
                <a16:creationId xmlns:a16="http://schemas.microsoft.com/office/drawing/2014/main" id="{F559A921-23E0-414A-B781-9A0E97119243}"/>
              </a:ext>
            </a:extLst>
          </p:cNvPr>
          <p:cNvSpPr>
            <a:spLocks noGrp="1"/>
          </p:cNvSpPr>
          <p:nvPr/>
        </p:nvSpPr>
        <p:spPr>
          <a:xfrm>
            <a:off x="6496050" y="5486400"/>
            <a:ext cx="4762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lang="en-US" sz="1575" dirty="0">
                <a:solidFill>
                  <a:srgbClr val="1C282B"/>
                </a:solidFill>
                <a:latin typeface="Arial"/>
                <a:ea typeface="Arial"/>
                <a:cs typeface="Arial"/>
              </a:rPr>
              <a:t>Lightweight, fast terminal tool.</a:t>
            </a:r>
          </a:p>
        </p:txBody>
      </p:sp>
    </p:spTree>
    <p:extLst>
      <p:ext uri="{BB962C8B-B14F-4D97-AF65-F5344CB8AC3E}">
        <p14:creationId xmlns:p14="http://schemas.microsoft.com/office/powerpoint/2010/main" val="12216541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9" grpId="0"/>
      <p:bldP spid="12" grpId="0"/>
      <p:bldP spid="15" grpId="0"/>
      <p:bldP spid="18" grpId="0"/>
      <p:bldP spid="21" grpId="0"/>
      <p:bldP spid="24" grpId="0"/>
      <p:bldP spid="27" grpId="0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E4BEC24-3DEE-4B02-A653-24FEBAC261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m1-module">
            <a:extLst>
              <a:ext uri="{FF2B5EF4-FFF2-40B4-BE49-F238E27FC236}">
                <a16:creationId xmlns:a16="http://schemas.microsoft.com/office/drawing/2014/main" id="{AD3289AC-CF58-42F4-98B0-DA05D2D8CC06}"/>
              </a:ext>
            </a:extLst>
          </p:cNvPr>
          <p:cNvSpPr>
            <a:spLocks noGrp="1"/>
          </p:cNvSpPr>
          <p:nvPr/>
        </p:nvSpPr>
        <p:spPr>
          <a:xfrm>
            <a:off x="695325" y="6762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D7666B-B44E-45E7-8619-C774F037FBFE}"/>
              </a:ext>
            </a:extLst>
          </p:cNvPr>
          <p:cNvSpPr>
            <a:spLocks noGrp="1"/>
          </p:cNvSpPr>
          <p:nvPr/>
        </p:nvSpPr>
        <p:spPr>
          <a:xfrm>
            <a:off x="3038475" y="581025"/>
            <a:ext cx="876300" cy="876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4675" y="680562"/>
            <a:ext cx="723900" cy="677226"/>
          </a:xfrm>
          <a:prstGeom prst="rect">
            <a:avLst/>
          </a:prstGeom>
        </p:spPr>
      </p:pic>
      <p:sp>
        <p:nvSpPr>
          <p:cNvPr id="5" name="m1-title">
            <a:extLst>
              <a:ext uri="{FF2B5EF4-FFF2-40B4-BE49-F238E27FC236}">
                <a16:creationId xmlns:a16="http://schemas.microsoft.com/office/drawing/2014/main" id="{FBDAE120-FDEF-452E-A2E2-0105E815F900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32004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Vault Operations</a:t>
            </a:r>
          </a:p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&amp; File Management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571C30-6AF5-453C-980C-EB5496E30665}"/>
              </a:ext>
            </a:extLst>
          </p:cNvPr>
          <p:cNvSpPr>
            <a:spLocks noGrp="1"/>
          </p:cNvSpPr>
          <p:nvPr/>
        </p:nvSpPr>
        <p:spPr>
          <a:xfrm>
            <a:off x="695325" y="4648200"/>
            <a:ext cx="2781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1-number">
            <a:extLst>
              <a:ext uri="{FF2B5EF4-FFF2-40B4-BE49-F238E27FC236}">
                <a16:creationId xmlns:a16="http://schemas.microsoft.com/office/drawing/2014/main" id="{9AE87749-FAA0-48D8-B04A-510A20607484}"/>
              </a:ext>
            </a:extLst>
          </p:cNvPr>
          <p:cNvSpPr>
            <a:spLocks noGrp="1"/>
          </p:cNvSpPr>
          <p:nvPr/>
        </p:nvSpPr>
        <p:spPr>
          <a:xfrm>
            <a:off x="657225" y="4981575"/>
            <a:ext cx="2819400" cy="137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950" b="0">
                <a:solidFill>
                  <a:srgbClr val="83A9BD"/>
                </a:solidFill>
                <a:latin typeface="Georgia"/>
                <a:ea typeface="Georgia"/>
                <a:cs typeface="Georgia"/>
              </a:defRPr>
            </a:pPr>
            <a:r>
              <a:rPr sz="10950" b="0">
                <a:solidFill>
                  <a:srgbClr val="83A9B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641677-4E99-4B97-B59C-4A7E8940CA6F}"/>
              </a:ext>
            </a:extLst>
          </p:cNvPr>
          <p:cNvSpPr>
            <a:spLocks noGrp="1"/>
          </p:cNvSpPr>
          <p:nvPr/>
        </p:nvSpPr>
        <p:spPr>
          <a:xfrm>
            <a:off x="4810125" y="704850"/>
            <a:ext cx="76200" cy="16573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1-idx-1">
            <a:extLst>
              <a:ext uri="{FF2B5EF4-FFF2-40B4-BE49-F238E27FC236}">
                <a16:creationId xmlns:a16="http://schemas.microsoft.com/office/drawing/2014/main" id="{AF8714EE-3B33-4665-AAEF-A3BDAC1B614E}"/>
              </a:ext>
            </a:extLst>
          </p:cNvPr>
          <p:cNvSpPr>
            <a:spLocks noGrp="1"/>
          </p:cNvSpPr>
          <p:nvPr/>
        </p:nvSpPr>
        <p:spPr>
          <a:xfrm>
            <a:off x="5162550" y="7429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1-feature-1">
            <a:extLst>
              <a:ext uri="{FF2B5EF4-FFF2-40B4-BE49-F238E27FC236}">
                <a16:creationId xmlns:a16="http://schemas.microsoft.com/office/drawing/2014/main" id="{23CFC47B-76A6-47C0-A34E-9800A4FD4C1D}"/>
              </a:ext>
            </a:extLst>
          </p:cNvPr>
          <p:cNvSpPr>
            <a:spLocks noGrp="1"/>
          </p:cNvSpPr>
          <p:nvPr/>
        </p:nvSpPr>
        <p:spPr>
          <a:xfrm>
            <a:off x="5734050" y="7524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Directory Ingestion</a:t>
            </a:r>
          </a:p>
        </p:txBody>
      </p:sp>
      <p:sp>
        <p:nvSpPr>
          <p:cNvPr id="11" name="m1-desc-1">
            <a:extLst>
              <a:ext uri="{FF2B5EF4-FFF2-40B4-BE49-F238E27FC236}">
                <a16:creationId xmlns:a16="http://schemas.microsoft.com/office/drawing/2014/main" id="{284A5DA2-68D2-40AB-BC12-156C92D32E81}"/>
              </a:ext>
            </a:extLst>
          </p:cNvPr>
          <p:cNvSpPr>
            <a:spLocks noGrp="1"/>
          </p:cNvSpPr>
          <p:nvPr/>
        </p:nvSpPr>
        <p:spPr>
          <a:xfrm>
            <a:off x="5734050" y="13620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Automated disk scanning for .txt and .md files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FC4247-B598-4DCF-91F6-539294EDD4D6}"/>
              </a:ext>
            </a:extLst>
          </p:cNvPr>
          <p:cNvSpPr>
            <a:spLocks noGrp="1"/>
          </p:cNvSpPr>
          <p:nvPr/>
        </p:nvSpPr>
        <p:spPr>
          <a:xfrm>
            <a:off x="5162550" y="25241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079C2A-184A-4068-AEAA-5F3CFF1A6CFB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76200" cy="16573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1-idx-2">
            <a:extLst>
              <a:ext uri="{FF2B5EF4-FFF2-40B4-BE49-F238E27FC236}">
                <a16:creationId xmlns:a16="http://schemas.microsoft.com/office/drawing/2014/main" id="{271BB21C-60B2-4340-A544-222655B5EF66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m1-feature-2">
            <a:extLst>
              <a:ext uri="{FF2B5EF4-FFF2-40B4-BE49-F238E27FC236}">
                <a16:creationId xmlns:a16="http://schemas.microsoft.com/office/drawing/2014/main" id="{A5799757-2DA7-4C7B-AFA2-D5970613DA9B}"/>
              </a:ext>
            </a:extLst>
          </p:cNvPr>
          <p:cNvSpPr>
            <a:spLocks noGrp="1"/>
          </p:cNvSpPr>
          <p:nvPr/>
        </p:nvSpPr>
        <p:spPr>
          <a:xfrm>
            <a:off x="5734050" y="27336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CRUD Operations</a:t>
            </a:r>
          </a:p>
        </p:txBody>
      </p:sp>
      <p:sp>
        <p:nvSpPr>
          <p:cNvPr id="16" name="m1-desc-2">
            <a:extLst>
              <a:ext uri="{FF2B5EF4-FFF2-40B4-BE49-F238E27FC236}">
                <a16:creationId xmlns:a16="http://schemas.microsoft.com/office/drawing/2014/main" id="{3BCEDF77-F27D-4CBF-B09D-A0DD02693AC9}"/>
              </a:ext>
            </a:extLst>
          </p:cNvPr>
          <p:cNvSpPr>
            <a:spLocks noGrp="1"/>
          </p:cNvSpPr>
          <p:nvPr/>
        </p:nvSpPr>
        <p:spPr>
          <a:xfrm>
            <a:off x="5734050" y="33432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Create-Read-Update-Delete (Temporary &amp; Permanent)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F1F443-186A-41F9-911F-614D3AFA0FE5}"/>
              </a:ext>
            </a:extLst>
          </p:cNvPr>
          <p:cNvSpPr>
            <a:spLocks noGrp="1"/>
          </p:cNvSpPr>
          <p:nvPr/>
        </p:nvSpPr>
        <p:spPr>
          <a:xfrm>
            <a:off x="5162550" y="45053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DE61A-4477-44E0-9B28-F95A0735DBFC}"/>
              </a:ext>
            </a:extLst>
          </p:cNvPr>
          <p:cNvSpPr>
            <a:spLocks noGrp="1"/>
          </p:cNvSpPr>
          <p:nvPr/>
        </p:nvSpPr>
        <p:spPr>
          <a:xfrm>
            <a:off x="4810125" y="4667250"/>
            <a:ext cx="76200" cy="16573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m1-idx-3">
            <a:extLst>
              <a:ext uri="{FF2B5EF4-FFF2-40B4-BE49-F238E27FC236}">
                <a16:creationId xmlns:a16="http://schemas.microsoft.com/office/drawing/2014/main" id="{EA626357-BCF2-46BD-BD35-13E87D64AB4A}"/>
              </a:ext>
            </a:extLst>
          </p:cNvPr>
          <p:cNvSpPr>
            <a:spLocks noGrp="1"/>
          </p:cNvSpPr>
          <p:nvPr/>
        </p:nvSpPr>
        <p:spPr>
          <a:xfrm>
            <a:off x="5162550" y="47053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m1-feature-3">
            <a:extLst>
              <a:ext uri="{FF2B5EF4-FFF2-40B4-BE49-F238E27FC236}">
                <a16:creationId xmlns:a16="http://schemas.microsoft.com/office/drawing/2014/main" id="{D35ED605-9845-4E48-848E-10F8D96D9527}"/>
              </a:ext>
            </a:extLst>
          </p:cNvPr>
          <p:cNvSpPr>
            <a:spLocks noGrp="1"/>
          </p:cNvSpPr>
          <p:nvPr/>
        </p:nvSpPr>
        <p:spPr>
          <a:xfrm>
            <a:off x="5734050" y="47148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Binary Metadata Persistence</a:t>
            </a:r>
          </a:p>
        </p:txBody>
      </p:sp>
      <p:sp>
        <p:nvSpPr>
          <p:cNvPr id="21" name="m1-desc-3">
            <a:extLst>
              <a:ext uri="{FF2B5EF4-FFF2-40B4-BE49-F238E27FC236}">
                <a16:creationId xmlns:a16="http://schemas.microsoft.com/office/drawing/2014/main" id="{65073FB8-5436-45B9-BB0A-B15354F52B58}"/>
              </a:ext>
            </a:extLst>
          </p:cNvPr>
          <p:cNvSpPr>
            <a:spLocks noGrp="1"/>
          </p:cNvSpPr>
          <p:nvPr/>
        </p:nvSpPr>
        <p:spPr>
          <a:xfrm>
            <a:off x="5734050" y="53244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Tags, Metadata &amp; Index in Binary Format</a:t>
            </a:r>
          </a:p>
        </p:txBody>
      </p:sp>
    </p:spTree>
    <p:extLst>
      <p:ext uri="{BB962C8B-B14F-4D97-AF65-F5344CB8AC3E}">
        <p14:creationId xmlns:p14="http://schemas.microsoft.com/office/powerpoint/2010/main" val="17080875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4" grpId="0"/>
      <p:bldP spid="15" grpId="0"/>
      <p:bldP spid="16" grpId="0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CBAB95-1B98-4481-80A4-8E7839F582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m2-module">
            <a:extLst>
              <a:ext uri="{FF2B5EF4-FFF2-40B4-BE49-F238E27FC236}">
                <a16:creationId xmlns:a16="http://schemas.microsoft.com/office/drawing/2014/main" id="{94F39B5F-E95B-4493-B364-DD214E56E9C3}"/>
              </a:ext>
            </a:extLst>
          </p:cNvPr>
          <p:cNvSpPr>
            <a:spLocks noGrp="1"/>
          </p:cNvSpPr>
          <p:nvPr/>
        </p:nvSpPr>
        <p:spPr>
          <a:xfrm>
            <a:off x="695325" y="6762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B23D3-AB87-4EA0-9AB2-9A56E9AB68E8}"/>
              </a:ext>
            </a:extLst>
          </p:cNvPr>
          <p:cNvSpPr>
            <a:spLocks noGrp="1"/>
          </p:cNvSpPr>
          <p:nvPr/>
        </p:nvSpPr>
        <p:spPr>
          <a:xfrm>
            <a:off x="3038475" y="581025"/>
            <a:ext cx="876300" cy="876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21450" y="657225"/>
            <a:ext cx="710349" cy="723900"/>
          </a:xfrm>
          <a:prstGeom prst="rect">
            <a:avLst/>
          </a:prstGeom>
        </p:spPr>
      </p:pic>
      <p:sp>
        <p:nvSpPr>
          <p:cNvPr id="5" name="m2-title">
            <a:extLst>
              <a:ext uri="{FF2B5EF4-FFF2-40B4-BE49-F238E27FC236}">
                <a16:creationId xmlns:a16="http://schemas.microsoft.com/office/drawing/2014/main" id="{78AF7F0C-5EF7-4645-851F-B604E60A70E0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32004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Inverted Index</a:t>
            </a:r>
          </a:p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&amp;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6B7062-CFAE-434B-8039-F1C6EC949C56}"/>
              </a:ext>
            </a:extLst>
          </p:cNvPr>
          <p:cNvSpPr>
            <a:spLocks noGrp="1"/>
          </p:cNvSpPr>
          <p:nvPr/>
        </p:nvSpPr>
        <p:spPr>
          <a:xfrm>
            <a:off x="695325" y="4648200"/>
            <a:ext cx="2781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2-number">
            <a:extLst>
              <a:ext uri="{FF2B5EF4-FFF2-40B4-BE49-F238E27FC236}">
                <a16:creationId xmlns:a16="http://schemas.microsoft.com/office/drawing/2014/main" id="{BB26034B-6B3B-4D68-8FB4-AFCEA663CD28}"/>
              </a:ext>
            </a:extLst>
          </p:cNvPr>
          <p:cNvSpPr>
            <a:spLocks noGrp="1"/>
          </p:cNvSpPr>
          <p:nvPr/>
        </p:nvSpPr>
        <p:spPr>
          <a:xfrm>
            <a:off x="657225" y="4981575"/>
            <a:ext cx="2819400" cy="137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950" b="0">
                <a:solidFill>
                  <a:srgbClr val="D2A090"/>
                </a:solidFill>
                <a:latin typeface="Georgia"/>
                <a:ea typeface="Georgia"/>
                <a:cs typeface="Georgia"/>
              </a:defRPr>
            </a:pPr>
            <a:r>
              <a:rPr sz="10950" b="0">
                <a:solidFill>
                  <a:srgbClr val="D2A09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09E01C-DF7B-4E28-AEFA-B19FCD76F363}"/>
              </a:ext>
            </a:extLst>
          </p:cNvPr>
          <p:cNvSpPr>
            <a:spLocks noGrp="1"/>
          </p:cNvSpPr>
          <p:nvPr/>
        </p:nvSpPr>
        <p:spPr>
          <a:xfrm>
            <a:off x="4810125" y="7048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2-idx-1">
            <a:extLst>
              <a:ext uri="{FF2B5EF4-FFF2-40B4-BE49-F238E27FC236}">
                <a16:creationId xmlns:a16="http://schemas.microsoft.com/office/drawing/2014/main" id="{B47C5A74-D7CE-4F96-8DB7-E4887D7DEA64}"/>
              </a:ext>
            </a:extLst>
          </p:cNvPr>
          <p:cNvSpPr>
            <a:spLocks noGrp="1"/>
          </p:cNvSpPr>
          <p:nvPr/>
        </p:nvSpPr>
        <p:spPr>
          <a:xfrm>
            <a:off x="5162550" y="7429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2-feature-1">
            <a:extLst>
              <a:ext uri="{FF2B5EF4-FFF2-40B4-BE49-F238E27FC236}">
                <a16:creationId xmlns:a16="http://schemas.microsoft.com/office/drawing/2014/main" id="{C60748A6-B72B-4C22-A519-2A59E8820C31}"/>
              </a:ext>
            </a:extLst>
          </p:cNvPr>
          <p:cNvSpPr>
            <a:spLocks noGrp="1"/>
          </p:cNvSpPr>
          <p:nvPr/>
        </p:nvSpPr>
        <p:spPr>
          <a:xfrm>
            <a:off x="5734050" y="7524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Custom Inverted Index</a:t>
            </a:r>
          </a:p>
        </p:txBody>
      </p:sp>
      <p:sp>
        <p:nvSpPr>
          <p:cNvPr id="11" name="m2-desc-1">
            <a:extLst>
              <a:ext uri="{FF2B5EF4-FFF2-40B4-BE49-F238E27FC236}">
                <a16:creationId xmlns:a16="http://schemas.microsoft.com/office/drawing/2014/main" id="{0EA04106-D4E6-4184-908D-31DFC0E844E4}"/>
              </a:ext>
            </a:extLst>
          </p:cNvPr>
          <p:cNvSpPr>
            <a:spLocks noGrp="1"/>
          </p:cNvSpPr>
          <p:nvPr/>
        </p:nvSpPr>
        <p:spPr>
          <a:xfrm>
            <a:off x="5734050" y="13620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Maps unique keywords to source files &amp; exact line positions.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C1A1C2-6C1E-4DFD-93E7-5B72D66AF144}"/>
              </a:ext>
            </a:extLst>
          </p:cNvPr>
          <p:cNvSpPr>
            <a:spLocks noGrp="1"/>
          </p:cNvSpPr>
          <p:nvPr/>
        </p:nvSpPr>
        <p:spPr>
          <a:xfrm>
            <a:off x="5162550" y="25241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32A778-11CE-46AE-AEC9-03760D7DDC70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2-idx-2">
            <a:extLst>
              <a:ext uri="{FF2B5EF4-FFF2-40B4-BE49-F238E27FC236}">
                <a16:creationId xmlns:a16="http://schemas.microsoft.com/office/drawing/2014/main" id="{7FCEAD26-401C-4788-AB60-94677520987A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m2-feature-2">
            <a:extLst>
              <a:ext uri="{FF2B5EF4-FFF2-40B4-BE49-F238E27FC236}">
                <a16:creationId xmlns:a16="http://schemas.microsoft.com/office/drawing/2014/main" id="{C1FC50EF-ABE4-4D97-A298-68F1EB160958}"/>
              </a:ext>
            </a:extLst>
          </p:cNvPr>
          <p:cNvSpPr>
            <a:spLocks noGrp="1"/>
          </p:cNvSpPr>
          <p:nvPr/>
        </p:nvSpPr>
        <p:spPr>
          <a:xfrm>
            <a:off x="5734050" y="27336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Multi-File Search &amp; Exact Phrase Search</a:t>
            </a:r>
          </a:p>
        </p:txBody>
      </p:sp>
      <p:sp>
        <p:nvSpPr>
          <p:cNvPr id="16" name="m2-desc-2">
            <a:extLst>
              <a:ext uri="{FF2B5EF4-FFF2-40B4-BE49-F238E27FC236}">
                <a16:creationId xmlns:a16="http://schemas.microsoft.com/office/drawing/2014/main" id="{3F1398E6-4380-460C-AAA7-16DD8DF621F8}"/>
              </a:ext>
            </a:extLst>
          </p:cNvPr>
          <p:cNvSpPr>
            <a:spLocks noGrp="1"/>
          </p:cNvSpPr>
          <p:nvPr/>
        </p:nvSpPr>
        <p:spPr>
          <a:xfrm>
            <a:off x="5734050" y="33432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Based on custom tags and categories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97CA9F-3F51-476D-B14B-9DA636AAA401}"/>
              </a:ext>
            </a:extLst>
          </p:cNvPr>
          <p:cNvSpPr>
            <a:spLocks noGrp="1"/>
          </p:cNvSpPr>
          <p:nvPr/>
        </p:nvSpPr>
        <p:spPr>
          <a:xfrm>
            <a:off x="5162550" y="45053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96234B-A22C-4549-8DC6-CDB241C9AA41}"/>
              </a:ext>
            </a:extLst>
          </p:cNvPr>
          <p:cNvSpPr>
            <a:spLocks noGrp="1"/>
          </p:cNvSpPr>
          <p:nvPr/>
        </p:nvSpPr>
        <p:spPr>
          <a:xfrm>
            <a:off x="4810125" y="46672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m2-idx-3">
            <a:extLst>
              <a:ext uri="{FF2B5EF4-FFF2-40B4-BE49-F238E27FC236}">
                <a16:creationId xmlns:a16="http://schemas.microsoft.com/office/drawing/2014/main" id="{CEE36F6D-BBEF-4BE0-AD6C-AF9A1C92AA9A}"/>
              </a:ext>
            </a:extLst>
          </p:cNvPr>
          <p:cNvSpPr>
            <a:spLocks noGrp="1"/>
          </p:cNvSpPr>
          <p:nvPr/>
        </p:nvSpPr>
        <p:spPr>
          <a:xfrm>
            <a:off x="5162550" y="47053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m2-feature-3">
            <a:extLst>
              <a:ext uri="{FF2B5EF4-FFF2-40B4-BE49-F238E27FC236}">
                <a16:creationId xmlns:a16="http://schemas.microsoft.com/office/drawing/2014/main" id="{AF578D5B-18F4-4E06-8277-5D2B4FC2D380}"/>
              </a:ext>
            </a:extLst>
          </p:cNvPr>
          <p:cNvSpPr>
            <a:spLocks noGrp="1"/>
          </p:cNvSpPr>
          <p:nvPr/>
        </p:nvSpPr>
        <p:spPr>
          <a:xfrm>
            <a:off x="5734050" y="47148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ANSI Terminal Highlighting</a:t>
            </a:r>
          </a:p>
        </p:txBody>
      </p:sp>
      <p:sp>
        <p:nvSpPr>
          <p:cNvPr id="21" name="m2-desc-3">
            <a:extLst>
              <a:ext uri="{FF2B5EF4-FFF2-40B4-BE49-F238E27FC236}">
                <a16:creationId xmlns:a16="http://schemas.microsoft.com/office/drawing/2014/main" id="{6BB7518C-11DF-45B4-B8FA-FDC24CD731DE}"/>
              </a:ext>
            </a:extLst>
          </p:cNvPr>
          <p:cNvSpPr>
            <a:spLocks noGrp="1"/>
          </p:cNvSpPr>
          <p:nvPr/>
        </p:nvSpPr>
        <p:spPr>
          <a:xfrm>
            <a:off x="5734050" y="53244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Uses ANSI escape codes to highlight search matches.</a:t>
            </a:r>
          </a:p>
        </p:txBody>
      </p:sp>
    </p:spTree>
    <p:extLst>
      <p:ext uri="{BB962C8B-B14F-4D97-AF65-F5344CB8AC3E}">
        <p14:creationId xmlns:p14="http://schemas.microsoft.com/office/powerpoint/2010/main" val="2831067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4" grpId="0"/>
      <p:bldP spid="15" grpId="0"/>
      <p:bldP spid="16" grpId="0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CD26C4B-61DB-4B6F-8AD4-A3542C332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m3-module">
            <a:extLst>
              <a:ext uri="{FF2B5EF4-FFF2-40B4-BE49-F238E27FC236}">
                <a16:creationId xmlns:a16="http://schemas.microsoft.com/office/drawing/2014/main" id="{142F0DAE-DC55-44C1-AD58-9F5FEBE943D8}"/>
              </a:ext>
            </a:extLst>
          </p:cNvPr>
          <p:cNvSpPr>
            <a:spLocks noGrp="1"/>
          </p:cNvSpPr>
          <p:nvPr/>
        </p:nvSpPr>
        <p:spPr>
          <a:xfrm>
            <a:off x="695325" y="6762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065BD-BA76-4FB5-96AC-AD3AB808958A}"/>
              </a:ext>
            </a:extLst>
          </p:cNvPr>
          <p:cNvSpPr>
            <a:spLocks noGrp="1"/>
          </p:cNvSpPr>
          <p:nvPr/>
        </p:nvSpPr>
        <p:spPr>
          <a:xfrm>
            <a:off x="3038475" y="581025"/>
            <a:ext cx="876300" cy="876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4675" y="673982"/>
            <a:ext cx="723900" cy="690386"/>
          </a:xfrm>
          <a:prstGeom prst="rect">
            <a:avLst/>
          </a:prstGeom>
        </p:spPr>
      </p:pic>
      <p:sp>
        <p:nvSpPr>
          <p:cNvPr id="5" name="m3-title">
            <a:extLst>
              <a:ext uri="{FF2B5EF4-FFF2-40B4-BE49-F238E27FC236}">
                <a16:creationId xmlns:a16="http://schemas.microsoft.com/office/drawing/2014/main" id="{35A9210E-54D3-451A-A658-1A0421B3A387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32004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Extractive</a:t>
            </a:r>
          </a:p>
          <a:p>
            <a:pPr algn="l"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Summarizer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C3FE41-CD84-410B-9157-89A79F60F7B4}"/>
              </a:ext>
            </a:extLst>
          </p:cNvPr>
          <p:cNvSpPr>
            <a:spLocks noGrp="1"/>
          </p:cNvSpPr>
          <p:nvPr/>
        </p:nvSpPr>
        <p:spPr>
          <a:xfrm>
            <a:off x="695325" y="4648200"/>
            <a:ext cx="2781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3-number">
            <a:extLst>
              <a:ext uri="{FF2B5EF4-FFF2-40B4-BE49-F238E27FC236}">
                <a16:creationId xmlns:a16="http://schemas.microsoft.com/office/drawing/2014/main" id="{01A6A730-1E88-464C-87D6-6E4105304EAC}"/>
              </a:ext>
            </a:extLst>
          </p:cNvPr>
          <p:cNvSpPr>
            <a:spLocks noGrp="1"/>
          </p:cNvSpPr>
          <p:nvPr/>
        </p:nvSpPr>
        <p:spPr>
          <a:xfrm>
            <a:off x="657225" y="4981575"/>
            <a:ext cx="2819400" cy="137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950" b="0">
                <a:solidFill>
                  <a:srgbClr val="83A9BD"/>
                </a:solidFill>
                <a:latin typeface="Georgia"/>
                <a:ea typeface="Georgia"/>
                <a:cs typeface="Georgia"/>
              </a:defRPr>
            </a:pPr>
            <a:r>
              <a:rPr sz="10950" b="0">
                <a:solidFill>
                  <a:srgbClr val="83A9B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BF1939-3C4C-47BB-AE6E-83B0B355F668}"/>
              </a:ext>
            </a:extLst>
          </p:cNvPr>
          <p:cNvSpPr>
            <a:spLocks noGrp="1"/>
          </p:cNvSpPr>
          <p:nvPr/>
        </p:nvSpPr>
        <p:spPr>
          <a:xfrm>
            <a:off x="4810125" y="609600"/>
            <a:ext cx="76200" cy="11715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3-idx-1">
            <a:extLst>
              <a:ext uri="{FF2B5EF4-FFF2-40B4-BE49-F238E27FC236}">
                <a16:creationId xmlns:a16="http://schemas.microsoft.com/office/drawing/2014/main" id="{ACFE37D3-2909-4037-9443-100EE8269369}"/>
              </a:ext>
            </a:extLst>
          </p:cNvPr>
          <p:cNvSpPr>
            <a:spLocks noGrp="1"/>
          </p:cNvSpPr>
          <p:nvPr/>
        </p:nvSpPr>
        <p:spPr>
          <a:xfrm>
            <a:off x="5162550" y="64770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3-feature-1">
            <a:extLst>
              <a:ext uri="{FF2B5EF4-FFF2-40B4-BE49-F238E27FC236}">
                <a16:creationId xmlns:a16="http://schemas.microsoft.com/office/drawing/2014/main" id="{C6AAF104-2995-4AB6-9F75-E93B2000F2C6}"/>
              </a:ext>
            </a:extLst>
          </p:cNvPr>
          <p:cNvSpPr>
            <a:spLocks noGrp="1"/>
          </p:cNvSpPr>
          <p:nvPr/>
        </p:nvSpPr>
        <p:spPr>
          <a:xfrm>
            <a:off x="5734050" y="65722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TF-IDF Vector Space</a:t>
            </a:r>
          </a:p>
        </p:txBody>
      </p:sp>
      <p:sp>
        <p:nvSpPr>
          <p:cNvPr id="11" name="m3-desc-1">
            <a:extLst>
              <a:ext uri="{FF2B5EF4-FFF2-40B4-BE49-F238E27FC236}">
                <a16:creationId xmlns:a16="http://schemas.microsoft.com/office/drawing/2014/main" id="{64A93B19-519C-46C5-AB3E-C1329C8FB60E}"/>
              </a:ext>
            </a:extLst>
          </p:cNvPr>
          <p:cNvSpPr>
            <a:spLocks noGrp="1"/>
          </p:cNvSpPr>
          <p:nvPr/>
        </p:nvSpPr>
        <p:spPr>
          <a:xfrm>
            <a:off x="5734050" y="1133475"/>
            <a:ext cx="5619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Normalize, Tokenize, Remove Stop Words, Vectorize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FB8084-E954-45E0-A4A8-0C051E952D10}"/>
              </a:ext>
            </a:extLst>
          </p:cNvPr>
          <p:cNvSpPr>
            <a:spLocks noGrp="1"/>
          </p:cNvSpPr>
          <p:nvPr/>
        </p:nvSpPr>
        <p:spPr>
          <a:xfrm>
            <a:off x="5162550" y="1943100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F7BA6E-59AF-43FF-8B21-639C71CF1990}"/>
              </a:ext>
            </a:extLst>
          </p:cNvPr>
          <p:cNvSpPr>
            <a:spLocks noGrp="1"/>
          </p:cNvSpPr>
          <p:nvPr/>
        </p:nvSpPr>
        <p:spPr>
          <a:xfrm>
            <a:off x="4810125" y="2105025"/>
            <a:ext cx="76200" cy="11715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3-idx-2">
            <a:extLst>
              <a:ext uri="{FF2B5EF4-FFF2-40B4-BE49-F238E27FC236}">
                <a16:creationId xmlns:a16="http://schemas.microsoft.com/office/drawing/2014/main" id="{D0A1CF84-40AB-4F55-8617-07BD4A5CA142}"/>
              </a:ext>
            </a:extLst>
          </p:cNvPr>
          <p:cNvSpPr>
            <a:spLocks noGrp="1"/>
          </p:cNvSpPr>
          <p:nvPr/>
        </p:nvSpPr>
        <p:spPr>
          <a:xfrm>
            <a:off x="5162550" y="2143125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m3-feature-2">
            <a:extLst>
              <a:ext uri="{FF2B5EF4-FFF2-40B4-BE49-F238E27FC236}">
                <a16:creationId xmlns:a16="http://schemas.microsoft.com/office/drawing/2014/main" id="{ABD29617-8CC4-4600-BA41-ADB9165E681A}"/>
              </a:ext>
            </a:extLst>
          </p:cNvPr>
          <p:cNvSpPr>
            <a:spLocks noGrp="1"/>
          </p:cNvSpPr>
          <p:nvPr/>
        </p:nvSpPr>
        <p:spPr>
          <a:xfrm>
            <a:off x="5734050" y="2152650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Cosine Similarity</a:t>
            </a:r>
          </a:p>
        </p:txBody>
      </p:sp>
      <p:sp>
        <p:nvSpPr>
          <p:cNvPr id="16" name="m3-desc-2">
            <a:extLst>
              <a:ext uri="{FF2B5EF4-FFF2-40B4-BE49-F238E27FC236}">
                <a16:creationId xmlns:a16="http://schemas.microsoft.com/office/drawing/2014/main" id="{B71EBFA3-2360-45FA-B444-A40350A7B57B}"/>
              </a:ext>
            </a:extLst>
          </p:cNvPr>
          <p:cNvSpPr>
            <a:spLocks noGrp="1"/>
          </p:cNvSpPr>
          <p:nvPr/>
        </p:nvSpPr>
        <p:spPr>
          <a:xfrm>
            <a:off x="5734050" y="2628900"/>
            <a:ext cx="5619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Measure similarity between sentence vectors.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4870BC-35C4-4754-922D-70A03E0A229D}"/>
              </a:ext>
            </a:extLst>
          </p:cNvPr>
          <p:cNvSpPr>
            <a:spLocks noGrp="1"/>
          </p:cNvSpPr>
          <p:nvPr/>
        </p:nvSpPr>
        <p:spPr>
          <a:xfrm>
            <a:off x="5162550" y="34385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513EF0-E40B-48B6-9B23-BC7EEBC317A6}"/>
              </a:ext>
            </a:extLst>
          </p:cNvPr>
          <p:cNvSpPr>
            <a:spLocks noGrp="1"/>
          </p:cNvSpPr>
          <p:nvPr/>
        </p:nvSpPr>
        <p:spPr>
          <a:xfrm>
            <a:off x="4810125" y="3600450"/>
            <a:ext cx="76200" cy="11715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m3-idx-3">
            <a:extLst>
              <a:ext uri="{FF2B5EF4-FFF2-40B4-BE49-F238E27FC236}">
                <a16:creationId xmlns:a16="http://schemas.microsoft.com/office/drawing/2014/main" id="{BCEDF5E6-4E43-42E3-9344-6AA57422D3D3}"/>
              </a:ext>
            </a:extLst>
          </p:cNvPr>
          <p:cNvSpPr>
            <a:spLocks noGrp="1"/>
          </p:cNvSpPr>
          <p:nvPr/>
        </p:nvSpPr>
        <p:spPr>
          <a:xfrm>
            <a:off x="5162550" y="36385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m3-feature-3">
            <a:extLst>
              <a:ext uri="{FF2B5EF4-FFF2-40B4-BE49-F238E27FC236}">
                <a16:creationId xmlns:a16="http://schemas.microsoft.com/office/drawing/2014/main" id="{0E9F424F-714A-4D3C-AF47-B9FBA04B2BC3}"/>
              </a:ext>
            </a:extLst>
          </p:cNvPr>
          <p:cNvSpPr>
            <a:spLocks noGrp="1"/>
          </p:cNvSpPr>
          <p:nvPr/>
        </p:nvSpPr>
        <p:spPr>
          <a:xfrm>
            <a:off x="5734050" y="36480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Graph-Based LexRank Summarization</a:t>
            </a:r>
          </a:p>
        </p:txBody>
      </p:sp>
      <p:sp>
        <p:nvSpPr>
          <p:cNvPr id="21" name="m3-desc-3">
            <a:extLst>
              <a:ext uri="{FF2B5EF4-FFF2-40B4-BE49-F238E27FC236}">
                <a16:creationId xmlns:a16="http://schemas.microsoft.com/office/drawing/2014/main" id="{5486BA64-797A-4B16-9E47-6009EE4CC649}"/>
              </a:ext>
            </a:extLst>
          </p:cNvPr>
          <p:cNvSpPr>
            <a:spLocks noGrp="1"/>
          </p:cNvSpPr>
          <p:nvPr/>
        </p:nvSpPr>
        <p:spPr>
          <a:xfrm>
            <a:off x="5734050" y="4124325"/>
            <a:ext cx="5619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Graph centrality, rank &amp; select key sentences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6A1B81-3C25-4416-81E6-B6A48AE2250C}"/>
              </a:ext>
            </a:extLst>
          </p:cNvPr>
          <p:cNvSpPr>
            <a:spLocks noGrp="1"/>
          </p:cNvSpPr>
          <p:nvPr/>
        </p:nvSpPr>
        <p:spPr>
          <a:xfrm>
            <a:off x="5162550" y="4933950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7CB084-057A-4FCE-A8FB-10D2FEF964C5}"/>
              </a:ext>
            </a:extLst>
          </p:cNvPr>
          <p:cNvSpPr>
            <a:spLocks noGrp="1"/>
          </p:cNvSpPr>
          <p:nvPr/>
        </p:nvSpPr>
        <p:spPr>
          <a:xfrm>
            <a:off x="4810125" y="5095875"/>
            <a:ext cx="76200" cy="1171575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m3-idx-4">
            <a:extLst>
              <a:ext uri="{FF2B5EF4-FFF2-40B4-BE49-F238E27FC236}">
                <a16:creationId xmlns:a16="http://schemas.microsoft.com/office/drawing/2014/main" id="{3E87E6B7-C5E6-4898-8235-A8F89C6F52B8}"/>
              </a:ext>
            </a:extLst>
          </p:cNvPr>
          <p:cNvSpPr>
            <a:spLocks noGrp="1"/>
          </p:cNvSpPr>
          <p:nvPr/>
        </p:nvSpPr>
        <p:spPr>
          <a:xfrm>
            <a:off x="5162550" y="5133975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m3-feature-4">
            <a:extLst>
              <a:ext uri="{FF2B5EF4-FFF2-40B4-BE49-F238E27FC236}">
                <a16:creationId xmlns:a16="http://schemas.microsoft.com/office/drawing/2014/main" id="{505681D9-8BA6-4B15-9A88-872CCEBA2A19}"/>
              </a:ext>
            </a:extLst>
          </p:cNvPr>
          <p:cNvSpPr>
            <a:spLocks noGrp="1"/>
          </p:cNvSpPr>
          <p:nvPr/>
        </p:nvSpPr>
        <p:spPr>
          <a:xfrm>
            <a:off x="5734050" y="5143500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Flexible Summary Options &amp; Export</a:t>
            </a:r>
          </a:p>
        </p:txBody>
      </p:sp>
      <p:sp>
        <p:nvSpPr>
          <p:cNvPr id="26" name="m3-desc-4">
            <a:extLst>
              <a:ext uri="{FF2B5EF4-FFF2-40B4-BE49-F238E27FC236}">
                <a16:creationId xmlns:a16="http://schemas.microsoft.com/office/drawing/2014/main" id="{FD2812B4-82D9-4D1A-8BE1-A3FBABE65962}"/>
              </a:ext>
            </a:extLst>
          </p:cNvPr>
          <p:cNvSpPr>
            <a:spLocks noGrp="1"/>
          </p:cNvSpPr>
          <p:nvPr/>
        </p:nvSpPr>
        <p:spPr>
          <a:xfrm>
            <a:off x="5734050" y="5619750"/>
            <a:ext cx="561975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User-defined summary length, unified summaries from tagged categories.</a:t>
            </a:r>
          </a:p>
        </p:txBody>
      </p:sp>
    </p:spTree>
    <p:extLst>
      <p:ext uri="{BB962C8B-B14F-4D97-AF65-F5344CB8AC3E}">
        <p14:creationId xmlns:p14="http://schemas.microsoft.com/office/powerpoint/2010/main" val="3324292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4" grpId="0"/>
      <p:bldP spid="15" grpId="0"/>
      <p:bldP spid="16" grpId="0"/>
      <p:bldP spid="19" grpId="0"/>
      <p:bldP spid="20" grpId="0"/>
      <p:bldP spid="21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154D2A7-2137-43C8-86B7-87606D8412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m4-module">
            <a:extLst>
              <a:ext uri="{FF2B5EF4-FFF2-40B4-BE49-F238E27FC236}">
                <a16:creationId xmlns:a16="http://schemas.microsoft.com/office/drawing/2014/main" id="{CF4EF4D6-0034-4D47-ACBA-4519CC790AF2}"/>
              </a:ext>
            </a:extLst>
          </p:cNvPr>
          <p:cNvSpPr>
            <a:spLocks noGrp="1"/>
          </p:cNvSpPr>
          <p:nvPr/>
        </p:nvSpPr>
        <p:spPr>
          <a:xfrm>
            <a:off x="695325" y="6762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A59DA-9EA8-48B5-B384-AEFC1D3BA98C}"/>
              </a:ext>
            </a:extLst>
          </p:cNvPr>
          <p:cNvSpPr>
            <a:spLocks noGrp="1"/>
          </p:cNvSpPr>
          <p:nvPr/>
        </p:nvSpPr>
        <p:spPr>
          <a:xfrm>
            <a:off x="3038475" y="581025"/>
            <a:ext cx="876300" cy="876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4675" y="727604"/>
            <a:ext cx="723900" cy="583142"/>
          </a:xfrm>
          <a:prstGeom prst="rect">
            <a:avLst/>
          </a:prstGeom>
        </p:spPr>
      </p:pic>
      <p:sp>
        <p:nvSpPr>
          <p:cNvPr id="5" name="m4-title">
            <a:extLst>
              <a:ext uri="{FF2B5EF4-FFF2-40B4-BE49-F238E27FC236}">
                <a16:creationId xmlns:a16="http://schemas.microsoft.com/office/drawing/2014/main" id="{74107BD4-530A-410E-BB8B-BD3348892E2D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32004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Text Analytics</a:t>
            </a:r>
          </a:p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&amp; Document</a:t>
            </a:r>
          </a:p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Insights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4DB77-2269-42AE-BF12-A90DFDB53084}"/>
              </a:ext>
            </a:extLst>
          </p:cNvPr>
          <p:cNvSpPr>
            <a:spLocks noGrp="1"/>
          </p:cNvSpPr>
          <p:nvPr/>
        </p:nvSpPr>
        <p:spPr>
          <a:xfrm>
            <a:off x="695325" y="4648200"/>
            <a:ext cx="2781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4-number">
            <a:extLst>
              <a:ext uri="{FF2B5EF4-FFF2-40B4-BE49-F238E27FC236}">
                <a16:creationId xmlns:a16="http://schemas.microsoft.com/office/drawing/2014/main" id="{097ED0E3-107B-48B8-BF21-5E2EB22AB4D5}"/>
              </a:ext>
            </a:extLst>
          </p:cNvPr>
          <p:cNvSpPr>
            <a:spLocks noGrp="1"/>
          </p:cNvSpPr>
          <p:nvPr/>
        </p:nvSpPr>
        <p:spPr>
          <a:xfrm>
            <a:off x="657225" y="4981575"/>
            <a:ext cx="2819400" cy="137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950" b="0">
                <a:solidFill>
                  <a:srgbClr val="D2A090"/>
                </a:solidFill>
                <a:latin typeface="Georgia"/>
                <a:ea typeface="Georgia"/>
                <a:cs typeface="Georgia"/>
              </a:defRPr>
            </a:pPr>
            <a:r>
              <a:rPr sz="10950" b="0">
                <a:solidFill>
                  <a:srgbClr val="D2A090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48DED8-CA18-4D16-B1D1-FE203B8A043D}"/>
              </a:ext>
            </a:extLst>
          </p:cNvPr>
          <p:cNvSpPr>
            <a:spLocks noGrp="1"/>
          </p:cNvSpPr>
          <p:nvPr/>
        </p:nvSpPr>
        <p:spPr>
          <a:xfrm>
            <a:off x="4810125" y="7048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4-idx-1">
            <a:extLst>
              <a:ext uri="{FF2B5EF4-FFF2-40B4-BE49-F238E27FC236}">
                <a16:creationId xmlns:a16="http://schemas.microsoft.com/office/drawing/2014/main" id="{E7FE74FF-AF39-4D4B-9E49-AFD24FAC2688}"/>
              </a:ext>
            </a:extLst>
          </p:cNvPr>
          <p:cNvSpPr>
            <a:spLocks noGrp="1"/>
          </p:cNvSpPr>
          <p:nvPr/>
        </p:nvSpPr>
        <p:spPr>
          <a:xfrm>
            <a:off x="5162550" y="7429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4-feature-1">
            <a:extLst>
              <a:ext uri="{FF2B5EF4-FFF2-40B4-BE49-F238E27FC236}">
                <a16:creationId xmlns:a16="http://schemas.microsoft.com/office/drawing/2014/main" id="{4F9372B7-CAAD-4065-B333-F3E7BAB55F19}"/>
              </a:ext>
            </a:extLst>
          </p:cNvPr>
          <p:cNvSpPr>
            <a:spLocks noGrp="1"/>
          </p:cNvSpPr>
          <p:nvPr/>
        </p:nvSpPr>
        <p:spPr>
          <a:xfrm>
            <a:off x="5734050" y="7524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Document Metrics</a:t>
            </a:r>
          </a:p>
        </p:txBody>
      </p:sp>
      <p:sp>
        <p:nvSpPr>
          <p:cNvPr id="11" name="m4-desc-1">
            <a:extLst>
              <a:ext uri="{FF2B5EF4-FFF2-40B4-BE49-F238E27FC236}">
                <a16:creationId xmlns:a16="http://schemas.microsoft.com/office/drawing/2014/main" id="{7801F378-9949-4842-9869-8652A3BA0213}"/>
              </a:ext>
            </a:extLst>
          </p:cNvPr>
          <p:cNvSpPr>
            <a:spLocks noGrp="1"/>
          </p:cNvSpPr>
          <p:nvPr/>
        </p:nvSpPr>
        <p:spPr>
          <a:xfrm>
            <a:off x="5734050" y="13620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Word Count, Sentence Count, Average Sentence Length, Estimated Reading Time.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E97301-1171-4883-AC0D-D532C2A5686B}"/>
              </a:ext>
            </a:extLst>
          </p:cNvPr>
          <p:cNvSpPr>
            <a:spLocks noGrp="1"/>
          </p:cNvSpPr>
          <p:nvPr/>
        </p:nvSpPr>
        <p:spPr>
          <a:xfrm>
            <a:off x="5162550" y="25241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C0640B-D2D8-4ECF-9B7D-4E8912601427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4-idx-2">
            <a:extLst>
              <a:ext uri="{FF2B5EF4-FFF2-40B4-BE49-F238E27FC236}">
                <a16:creationId xmlns:a16="http://schemas.microsoft.com/office/drawing/2014/main" id="{EC9DA329-1D63-4C61-8BAA-CADD12E8BCC5}"/>
              </a:ext>
            </a:extLst>
          </p:cNvPr>
          <p:cNvSpPr>
            <a:spLocks noGrp="1"/>
          </p:cNvSpPr>
          <p:nvPr/>
        </p:nvSpPr>
        <p:spPr>
          <a:xfrm>
            <a:off x="5162550" y="27241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m4-feature-2">
            <a:extLst>
              <a:ext uri="{FF2B5EF4-FFF2-40B4-BE49-F238E27FC236}">
                <a16:creationId xmlns:a16="http://schemas.microsoft.com/office/drawing/2014/main" id="{225A0F11-2A8C-40BD-870D-2C22AE542640}"/>
              </a:ext>
            </a:extLst>
          </p:cNvPr>
          <p:cNvSpPr>
            <a:spLocks noGrp="1"/>
          </p:cNvSpPr>
          <p:nvPr/>
        </p:nvSpPr>
        <p:spPr>
          <a:xfrm>
            <a:off x="5734050" y="27336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Top Keyword Extraction</a:t>
            </a:r>
          </a:p>
        </p:txBody>
      </p:sp>
      <p:sp>
        <p:nvSpPr>
          <p:cNvPr id="16" name="m4-desc-2">
            <a:extLst>
              <a:ext uri="{FF2B5EF4-FFF2-40B4-BE49-F238E27FC236}">
                <a16:creationId xmlns:a16="http://schemas.microsoft.com/office/drawing/2014/main" id="{5B683480-660C-4F97-93B7-97EDE2F78978}"/>
              </a:ext>
            </a:extLst>
          </p:cNvPr>
          <p:cNvSpPr>
            <a:spLocks noGrp="1"/>
          </p:cNvSpPr>
          <p:nvPr/>
        </p:nvSpPr>
        <p:spPr>
          <a:xfrm>
            <a:off x="5734050" y="33432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Extract &amp; display statistically significant words.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0F23F5-B1E0-4C75-AF61-30BB126B876C}"/>
              </a:ext>
            </a:extLst>
          </p:cNvPr>
          <p:cNvSpPr>
            <a:spLocks noGrp="1"/>
          </p:cNvSpPr>
          <p:nvPr/>
        </p:nvSpPr>
        <p:spPr>
          <a:xfrm>
            <a:off x="5162550" y="45053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CCB34A-02CC-406C-8FC8-C1CF86A04E0A}"/>
              </a:ext>
            </a:extLst>
          </p:cNvPr>
          <p:cNvSpPr>
            <a:spLocks noGrp="1"/>
          </p:cNvSpPr>
          <p:nvPr/>
        </p:nvSpPr>
        <p:spPr>
          <a:xfrm>
            <a:off x="4810125" y="4667250"/>
            <a:ext cx="76200" cy="16573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m4-idx-3">
            <a:extLst>
              <a:ext uri="{FF2B5EF4-FFF2-40B4-BE49-F238E27FC236}">
                <a16:creationId xmlns:a16="http://schemas.microsoft.com/office/drawing/2014/main" id="{D0B3F0F9-7168-4137-B437-F9D467E098E8}"/>
              </a:ext>
            </a:extLst>
          </p:cNvPr>
          <p:cNvSpPr>
            <a:spLocks noGrp="1"/>
          </p:cNvSpPr>
          <p:nvPr/>
        </p:nvSpPr>
        <p:spPr>
          <a:xfrm>
            <a:off x="5162550" y="47053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8F4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45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m4-feature-3">
            <a:extLst>
              <a:ext uri="{FF2B5EF4-FFF2-40B4-BE49-F238E27FC236}">
                <a16:creationId xmlns:a16="http://schemas.microsoft.com/office/drawing/2014/main" id="{E0B2F69D-6928-4C9E-A344-36F2975D21A8}"/>
              </a:ext>
            </a:extLst>
          </p:cNvPr>
          <p:cNvSpPr>
            <a:spLocks noGrp="1"/>
          </p:cNvSpPr>
          <p:nvPr/>
        </p:nvSpPr>
        <p:spPr>
          <a:xfrm>
            <a:off x="5734050" y="47148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Vector Similarity &amp; Document Comparison</a:t>
            </a:r>
          </a:p>
        </p:txBody>
      </p:sp>
      <p:sp>
        <p:nvSpPr>
          <p:cNvPr id="21" name="m4-desc-3">
            <a:extLst>
              <a:ext uri="{FF2B5EF4-FFF2-40B4-BE49-F238E27FC236}">
                <a16:creationId xmlns:a16="http://schemas.microsoft.com/office/drawing/2014/main" id="{AD656D21-4E89-4D35-8D7A-6A8925CBB56F}"/>
              </a:ext>
            </a:extLst>
          </p:cNvPr>
          <p:cNvSpPr>
            <a:spLocks noGrp="1"/>
          </p:cNvSpPr>
          <p:nvPr/>
        </p:nvSpPr>
        <p:spPr>
          <a:xfrm>
            <a:off x="5734050" y="53244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Identify highly similar or duplicate content.</a:t>
            </a:r>
          </a:p>
        </p:txBody>
      </p:sp>
    </p:spTree>
    <p:extLst>
      <p:ext uri="{BB962C8B-B14F-4D97-AF65-F5344CB8AC3E}">
        <p14:creationId xmlns:p14="http://schemas.microsoft.com/office/powerpoint/2010/main" val="21422287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4" grpId="0"/>
      <p:bldP spid="15" grpId="0"/>
      <p:bldP spid="16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F7546A-84B7-400B-BD06-EAF63BE759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71950" cy="68580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m5-module">
            <a:extLst>
              <a:ext uri="{FF2B5EF4-FFF2-40B4-BE49-F238E27FC236}">
                <a16:creationId xmlns:a16="http://schemas.microsoft.com/office/drawing/2014/main" id="{D9647C64-4493-4CEB-9787-8290ED19F549}"/>
              </a:ext>
            </a:extLst>
          </p:cNvPr>
          <p:cNvSpPr>
            <a:spLocks noGrp="1"/>
          </p:cNvSpPr>
          <p:nvPr/>
        </p:nvSpPr>
        <p:spPr>
          <a:xfrm>
            <a:off x="695325" y="6762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Module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A98AC9-65BB-4FF3-9CBE-6AAB6EAD7D87}"/>
              </a:ext>
            </a:extLst>
          </p:cNvPr>
          <p:cNvSpPr>
            <a:spLocks noGrp="1"/>
          </p:cNvSpPr>
          <p:nvPr/>
        </p:nvSpPr>
        <p:spPr>
          <a:xfrm>
            <a:off x="3038475" y="581025"/>
            <a:ext cx="876300" cy="876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14675" y="716105"/>
            <a:ext cx="723900" cy="606140"/>
          </a:xfrm>
          <a:prstGeom prst="rect">
            <a:avLst/>
          </a:prstGeom>
        </p:spPr>
      </p:pic>
      <p:sp>
        <p:nvSpPr>
          <p:cNvPr id="5" name="m5-title">
            <a:extLst>
              <a:ext uri="{FF2B5EF4-FFF2-40B4-BE49-F238E27FC236}">
                <a16:creationId xmlns:a16="http://schemas.microsoft.com/office/drawing/2014/main" id="{B0E86C6C-3DD3-41BD-8BA0-528093971C10}"/>
              </a:ext>
            </a:extLst>
          </p:cNvPr>
          <p:cNvSpPr>
            <a:spLocks noGrp="1"/>
          </p:cNvSpPr>
          <p:nvPr/>
        </p:nvSpPr>
        <p:spPr>
          <a:xfrm>
            <a:off x="695325" y="1781175"/>
            <a:ext cx="3200400" cy="2476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Terminal REPL</a:t>
            </a:r>
          </a:p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&amp; System</a:t>
            </a:r>
          </a:p>
          <a:p>
            <a:pPr algn="l">
              <a:defRPr sz="28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268E3-E510-4567-B809-52AD6C27D554}"/>
              </a:ext>
            </a:extLst>
          </p:cNvPr>
          <p:cNvSpPr>
            <a:spLocks noGrp="1"/>
          </p:cNvSpPr>
          <p:nvPr/>
        </p:nvSpPr>
        <p:spPr>
          <a:xfrm>
            <a:off x="695325" y="4648200"/>
            <a:ext cx="2781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5-number">
            <a:extLst>
              <a:ext uri="{FF2B5EF4-FFF2-40B4-BE49-F238E27FC236}">
                <a16:creationId xmlns:a16="http://schemas.microsoft.com/office/drawing/2014/main" id="{3092F15A-5623-4DC5-A2F7-14F066CA8D57}"/>
              </a:ext>
            </a:extLst>
          </p:cNvPr>
          <p:cNvSpPr>
            <a:spLocks noGrp="1"/>
          </p:cNvSpPr>
          <p:nvPr/>
        </p:nvSpPr>
        <p:spPr>
          <a:xfrm>
            <a:off x="657225" y="4981575"/>
            <a:ext cx="2819400" cy="137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950" b="0">
                <a:solidFill>
                  <a:srgbClr val="83A9BD"/>
                </a:solidFill>
                <a:latin typeface="Georgia"/>
                <a:ea typeface="Georgia"/>
                <a:cs typeface="Georgia"/>
              </a:defRPr>
            </a:pPr>
            <a:r>
              <a:rPr sz="10950" b="0">
                <a:solidFill>
                  <a:srgbClr val="83A9BD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53C4CB-C8B8-40FE-AAB6-7BA029186A1F}"/>
              </a:ext>
            </a:extLst>
          </p:cNvPr>
          <p:cNvSpPr>
            <a:spLocks noGrp="1"/>
          </p:cNvSpPr>
          <p:nvPr/>
        </p:nvSpPr>
        <p:spPr>
          <a:xfrm>
            <a:off x="4810125" y="1143000"/>
            <a:ext cx="76200" cy="22479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m5-idx-1">
            <a:extLst>
              <a:ext uri="{FF2B5EF4-FFF2-40B4-BE49-F238E27FC236}">
                <a16:creationId xmlns:a16="http://schemas.microsoft.com/office/drawing/2014/main" id="{203D513F-BA45-4448-8365-84A257D4E438}"/>
              </a:ext>
            </a:extLst>
          </p:cNvPr>
          <p:cNvSpPr>
            <a:spLocks noGrp="1"/>
          </p:cNvSpPr>
          <p:nvPr/>
        </p:nvSpPr>
        <p:spPr>
          <a:xfrm>
            <a:off x="5162550" y="118110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5-feature-1">
            <a:extLst>
              <a:ext uri="{FF2B5EF4-FFF2-40B4-BE49-F238E27FC236}">
                <a16:creationId xmlns:a16="http://schemas.microsoft.com/office/drawing/2014/main" id="{133F140B-425B-4454-ACD5-66DA5478124A}"/>
              </a:ext>
            </a:extLst>
          </p:cNvPr>
          <p:cNvSpPr>
            <a:spLocks noGrp="1"/>
          </p:cNvSpPr>
          <p:nvPr/>
        </p:nvSpPr>
        <p:spPr>
          <a:xfrm>
            <a:off x="5734050" y="119062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Interactive REPL Command Loop</a:t>
            </a:r>
          </a:p>
        </p:txBody>
      </p:sp>
      <p:sp>
        <p:nvSpPr>
          <p:cNvPr id="11" name="m5-desc-1">
            <a:extLst>
              <a:ext uri="{FF2B5EF4-FFF2-40B4-BE49-F238E27FC236}">
                <a16:creationId xmlns:a16="http://schemas.microsoft.com/office/drawing/2014/main" id="{3EBA5622-5591-42C0-86A1-841AC4328ABF}"/>
              </a:ext>
            </a:extLst>
          </p:cNvPr>
          <p:cNvSpPr>
            <a:spLocks noGrp="1"/>
          </p:cNvSpPr>
          <p:nvPr/>
        </p:nvSpPr>
        <p:spPr>
          <a:xfrm>
            <a:off x="5734050" y="180022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Read-Evaluate-Print Loop interface.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2FC68A-BEBD-4BD7-920D-A0798953C74D}"/>
              </a:ext>
            </a:extLst>
          </p:cNvPr>
          <p:cNvSpPr>
            <a:spLocks noGrp="1"/>
          </p:cNvSpPr>
          <p:nvPr/>
        </p:nvSpPr>
        <p:spPr>
          <a:xfrm>
            <a:off x="5162550" y="3552825"/>
            <a:ext cx="6210300" cy="19050"/>
          </a:xfrm>
          <a:prstGeom prst="rect">
            <a:avLst/>
          </a:prstGeom>
          <a:solidFill>
            <a:srgbClr val="B9C4C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9F72A-8840-4691-9EEB-FA3C56E4620D}"/>
              </a:ext>
            </a:extLst>
          </p:cNvPr>
          <p:cNvSpPr>
            <a:spLocks noGrp="1"/>
          </p:cNvSpPr>
          <p:nvPr/>
        </p:nvSpPr>
        <p:spPr>
          <a:xfrm>
            <a:off x="4810125" y="3714750"/>
            <a:ext cx="76200" cy="22479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m5-idx-2">
            <a:extLst>
              <a:ext uri="{FF2B5EF4-FFF2-40B4-BE49-F238E27FC236}">
                <a16:creationId xmlns:a16="http://schemas.microsoft.com/office/drawing/2014/main" id="{AF130DE7-CB46-480D-87FC-7C72FFA9E7E2}"/>
              </a:ext>
            </a:extLst>
          </p:cNvPr>
          <p:cNvSpPr>
            <a:spLocks noGrp="1"/>
          </p:cNvSpPr>
          <p:nvPr/>
        </p:nvSpPr>
        <p:spPr>
          <a:xfrm>
            <a:off x="5162550" y="37528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214E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14E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m5-feature-2">
            <a:extLst>
              <a:ext uri="{FF2B5EF4-FFF2-40B4-BE49-F238E27FC236}">
                <a16:creationId xmlns:a16="http://schemas.microsoft.com/office/drawing/2014/main" id="{9F57E4CB-F3FE-43B9-8993-1DCBF035068F}"/>
              </a:ext>
            </a:extLst>
          </p:cNvPr>
          <p:cNvSpPr>
            <a:spLocks noGrp="1"/>
          </p:cNvSpPr>
          <p:nvPr/>
        </p:nvSpPr>
        <p:spPr>
          <a:xfrm>
            <a:off x="5734050" y="3762375"/>
            <a:ext cx="56197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Exception &amp; Error Handling</a:t>
            </a:r>
          </a:p>
        </p:txBody>
      </p:sp>
      <p:sp>
        <p:nvSpPr>
          <p:cNvPr id="16" name="m5-desc-2">
            <a:extLst>
              <a:ext uri="{FF2B5EF4-FFF2-40B4-BE49-F238E27FC236}">
                <a16:creationId xmlns:a16="http://schemas.microsoft.com/office/drawing/2014/main" id="{97827DAC-61B9-452B-85F6-D1EB6D99DD06}"/>
              </a:ext>
            </a:extLst>
          </p:cNvPr>
          <p:cNvSpPr>
            <a:spLocks noGrp="1"/>
          </p:cNvSpPr>
          <p:nvPr/>
        </p:nvSpPr>
        <p:spPr>
          <a:xfrm>
            <a:off x="5734050" y="4371975"/>
            <a:ext cx="5619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0">
                <a:solidFill>
                  <a:srgbClr val="43505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35057"/>
                </a:solidFill>
                <a:latin typeface="Arial"/>
                <a:ea typeface="Arial"/>
                <a:cs typeface="Arial"/>
              </a:rPr>
              <a:t>Ensures safe I/O operations, prevents system crashes.</a:t>
            </a:r>
          </a:p>
        </p:txBody>
      </p:sp>
    </p:spTree>
    <p:extLst>
      <p:ext uri="{BB962C8B-B14F-4D97-AF65-F5344CB8AC3E}">
        <p14:creationId xmlns:p14="http://schemas.microsoft.com/office/powerpoint/2010/main" val="2186190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12022F-C8D2-4A07-B818-D31BA9CFC2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architecture-title">
            <a:extLst>
              <a:ext uri="{FF2B5EF4-FFF2-40B4-BE49-F238E27FC236}">
                <a16:creationId xmlns:a16="http://schemas.microsoft.com/office/drawing/2014/main" id="{C5E73F48-760C-4402-B1B1-B7A19B23DF1E}"/>
              </a:ext>
            </a:extLst>
          </p:cNvPr>
          <p:cNvSpPr>
            <a:spLocks noGrp="1"/>
          </p:cNvSpPr>
          <p:nvPr/>
        </p:nvSpPr>
        <p:spPr>
          <a:xfrm>
            <a:off x="704850" y="323850"/>
            <a:ext cx="98107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Overall System Architecture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14475"/>
            <a:ext cx="10858500" cy="3429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5220A2-AEDF-493F-AFD0-289D75EB9648}"/>
              </a:ext>
            </a:extLst>
          </p:cNvPr>
          <p:cNvSpPr>
            <a:spLocks noGrp="1"/>
          </p:cNvSpPr>
          <p:nvPr/>
        </p:nvSpPr>
        <p:spPr>
          <a:xfrm>
            <a:off x="704850" y="5267325"/>
            <a:ext cx="10782300" cy="28575"/>
          </a:xfrm>
          <a:prstGeom prst="rect">
            <a:avLst/>
          </a:prstGeom>
          <a:solidFill>
            <a:srgbClr val="E0A3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41603-FE46-4406-BAEF-CD59FDEFFDC1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66675" cy="1009650"/>
          </a:xfrm>
          <a:prstGeom prst="rect">
            <a:avLst/>
          </a:prstGeom>
          <a:solidFill>
            <a:srgbClr val="8F453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architecture-users-heading">
            <a:extLst>
              <a:ext uri="{FF2B5EF4-FFF2-40B4-BE49-F238E27FC236}">
                <a16:creationId xmlns:a16="http://schemas.microsoft.com/office/drawing/2014/main" id="{F217F911-EC11-4CEA-8CAF-239F4E4A7A5B}"/>
              </a:ext>
            </a:extLst>
          </p:cNvPr>
          <p:cNvSpPr>
            <a:spLocks noGrp="1"/>
          </p:cNvSpPr>
          <p:nvPr/>
        </p:nvSpPr>
        <p:spPr>
          <a:xfrm>
            <a:off x="962025" y="5438775"/>
            <a:ext cx="4810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Target users</a:t>
            </a:r>
          </a:p>
        </p:txBody>
      </p:sp>
      <p:sp>
        <p:nvSpPr>
          <p:cNvPr id="7" name="architecture-users">
            <a:extLst>
              <a:ext uri="{FF2B5EF4-FFF2-40B4-BE49-F238E27FC236}">
                <a16:creationId xmlns:a16="http://schemas.microsoft.com/office/drawing/2014/main" id="{92F63231-3601-4A04-98EB-F48816CD411C}"/>
              </a:ext>
            </a:extLst>
          </p:cNvPr>
          <p:cNvSpPr>
            <a:spLocks noGrp="1"/>
          </p:cNvSpPr>
          <p:nvPr/>
        </p:nvSpPr>
        <p:spPr>
          <a:xfrm>
            <a:off x="962025" y="5895975"/>
            <a:ext cx="4810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82B"/>
                </a:solidFill>
                <a:latin typeface="Arial"/>
                <a:ea typeface="Arial"/>
                <a:cs typeface="Arial"/>
              </a:rPr>
              <a:t>Students, researchers, Privacy-conscious note takers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EA678F-D960-4F3F-908D-BB036BB16F22}"/>
              </a:ext>
            </a:extLst>
          </p:cNvPr>
          <p:cNvSpPr>
            <a:spLocks noGrp="1"/>
          </p:cNvSpPr>
          <p:nvPr/>
        </p:nvSpPr>
        <p:spPr>
          <a:xfrm>
            <a:off x="6229350" y="5467350"/>
            <a:ext cx="66675" cy="1009650"/>
          </a:xfrm>
          <a:prstGeom prst="rect">
            <a:avLst/>
          </a:prstGeom>
          <a:solidFill>
            <a:srgbClr val="214E6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architecture-tools-heading">
            <a:extLst>
              <a:ext uri="{FF2B5EF4-FFF2-40B4-BE49-F238E27FC236}">
                <a16:creationId xmlns:a16="http://schemas.microsoft.com/office/drawing/2014/main" id="{BE92F136-5B4E-44CA-9FC2-76DC4E8F2430}"/>
              </a:ext>
            </a:extLst>
          </p:cNvPr>
          <p:cNvSpPr>
            <a:spLocks noGrp="1"/>
          </p:cNvSpPr>
          <p:nvPr/>
        </p:nvSpPr>
        <p:spPr>
          <a:xfrm>
            <a:off x="6486525" y="5438775"/>
            <a:ext cx="48101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C282B"/>
                </a:solidFill>
                <a:latin typeface="Arial"/>
                <a:ea typeface="Arial"/>
                <a:cs typeface="Arial"/>
              </a:rPr>
              <a:t>Tools to be used</a:t>
            </a:r>
          </a:p>
        </p:txBody>
      </p:sp>
      <p:sp>
        <p:nvSpPr>
          <p:cNvPr id="10" name="architecture-tools">
            <a:extLst>
              <a:ext uri="{FF2B5EF4-FFF2-40B4-BE49-F238E27FC236}">
                <a16:creationId xmlns:a16="http://schemas.microsoft.com/office/drawing/2014/main" id="{CAECBD24-964F-468D-AC76-8D11FBD52C75}"/>
              </a:ext>
            </a:extLst>
          </p:cNvPr>
          <p:cNvSpPr>
            <a:spLocks noGrp="1"/>
          </p:cNvSpPr>
          <p:nvPr/>
        </p:nvSpPr>
        <p:spPr>
          <a:xfrm>
            <a:off x="6486525" y="5895975"/>
            <a:ext cx="4810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1C28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C282B"/>
                </a:solidFill>
                <a:latin typeface="Arial"/>
                <a:ea typeface="Arial"/>
                <a:cs typeface="Arial"/>
              </a:rPr>
              <a:t>Language C++, Terminal, VS Codes, Git/Github</a:t>
            </a:r>
          </a:p>
        </p:txBody>
      </p:sp>
    </p:spTree>
    <p:extLst>
      <p:ext uri="{BB962C8B-B14F-4D97-AF65-F5344CB8AC3E}">
        <p14:creationId xmlns:p14="http://schemas.microsoft.com/office/powerpoint/2010/main" val="21262343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9" grpId="0"/>
      <p:bldP spid="10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702</Words>
  <Application>Microsoft Office PowerPoint</Application>
  <DocSecurity>0</DocSecurity>
  <PresentationFormat>Widescreen</PresentationFormat>
  <Paragraphs>159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Abrar Hossain Shahariar</cp:lastModifiedBy>
  <cp:revision>2</cp:revision>
  <dcterms:created xsi:type="dcterms:W3CDTF">2026-09-23T18:02:04Z</dcterms:created>
  <dcterms:modified xsi:type="dcterms:W3CDTF">2026-09-24T01:20:47Z</dcterms:modified>
</cp:coreProperties>
</file>